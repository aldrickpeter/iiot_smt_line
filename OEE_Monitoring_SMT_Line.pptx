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2.svg" ContentType="image/svg+xml"/>
  <Override PartName="/ppt/media/image3.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256" r:id="rId11"/>
    <p:sldId id="257" r:id="rId12"/>
    <p:sldId id="258" r:id="rId13"/>
    <p:sldId id="259" r:id="rId14"/>
    <p:sldId id="260" r:id="rId15"/>
    <p:sldId id="2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87887" autoAdjust="0"/>
  </p:normalViewPr>
  <p:slideViewPr>
    <p:cSldViewPr snapToGrid="0" showGuides="1">
      <p:cViewPr varScale="1">
        <p:scale>
          <a:sx n="80" d="100"/>
          <a:sy n="80" d="100"/>
        </p:scale>
        <p:origin x="468" y="3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18-Oct-26</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18-Oct-26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We are presenting our IIoT project: cloud-connected OEE monitoring for a simulated surface-mount PCB assembly line. I’ll walk through the project in five parts: the title and scope, our objectives, why this problem matters, the architecture across the five IIoT layers, and finally where our data comes from and how we plan to build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cloud-connected OEE monitoring for a simulated SMT, or surface-mount, PCB assembly line. OEE is Overall Equipment Effectiveness: availability times performance times quality.</a:t>
            </a:r>
          </a:p>
          <a:p/>
          <a:p>
            <a:r>
              <a:t>The clip on screen is our simulated line running at 300 times real speed. You can see the six stations — stencil printer, solder paste inspection, pick-and-place, reflow oven, optical inspection and in-circuit test — with the buffers between them. Each station is coloured by its state: green running, yellow starved, orange blocked, red down. In this run we injected a clogged nozzle on the pick-and-place, and you can see misplacement defects piling up on the right, blamed on the pick-and-place.</a:t>
            </a:r>
          </a:p>
          <a:p/>
          <a:p>
            <a:r>
              <a:t>So in one sentence: we are building a working IIoT prototype that measures OEE across six stations, through five IIoT layers, and we will validate it with three scripted faults.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five objectives, and they all serve one goal: turning a single OEE number into a root cause.</a:t>
            </a:r>
          </a:p>
          <a:p/>
          <a:p>
            <a:r>
              <a:t>First, measure OEE live — availability, performance and quality — per station, per shift and for the whole line, computed in the cloud.</a:t>
            </a:r>
          </a:p>
          <a:p/>
          <a:p>
            <a:r>
              <a:t>Second, explain downtime. Raw state changes become downtime events with reason codes, so we can rank causes by how much time they cost.</a:t>
            </a:r>
          </a:p>
          <a:p/>
          <a:p>
            <a:r>
              <a:t>Third, trace every reject. Each board carries a serial number and a defect record, so a defect found later at solder paste inspection, optical inspection or in-circuit test is blamed on the station that actually caused it. Quality is reported as first-pass yield.</a:t>
            </a:r>
          </a:p>
          <a:p/>
          <a:p>
            <a:r>
              <a:t>Fourth, find the bottleneck, by separating time a station spends starved or blocked by its neighbours from its own true faults.</a:t>
            </a:r>
          </a:p>
          <a:p/>
          <a:p>
            <a:r>
              <a:t>And fifth, prove it works: scripted faults must lead an operator to the correct root cause 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little background. An SMT line chains six machines, with small buffers between them. That coupling matters: if the pick-and-place stops, every station after it runs out of boards and every station before it fills up and stops.</a:t>
            </a:r>
          </a:p>
          <a:p/>
          <a:p>
            <a:r>
              <a:t>Our motivation is that output is lost in small pieces — short stops, slow cycles and solder defects — and the evidence shows up in the wrong place. A paste defect from the printer may only be caught at inspection, two or three machines later.</a:t>
            </a:r>
          </a:p>
          <a:p/>
          <a:p>
            <a:r>
              <a:t>On significance: in our 24-hour baseline run, the line OEE was 59 percent. That number alone doesn’t tell you what to do: it could be changeovers, empty feeders, paste defects, or stations waiting on a neighbour, and each one needs a different fix. Knowing the cause per station turns OEE into a to-do list. And because our simulator records the true cause of every loss, we can check that the dashboard points to the right machine — something you can’t do on a real line, where the true cause is rarely known.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following the five-layer IIoT stack. Data flows from the bottom up.</a:t>
            </a:r>
          </a:p>
          <a:p/>
          <a:p>
            <a:r>
              <a:t>Layer one, the physical device layer, is our Python simulator. Each of the six stations is a state machine — running, faulted, starved or blocked — with fault and defect probabilities that rise as parts wear, and finite buffers so a stoppage spreads along the line. This layer is already built and tested, which is why it is outlined.</a:t>
            </a:r>
          </a:p>
          <a:p/>
          <a:p>
            <a:r>
              <a:t>Layer two, the network layer: each station exposes its state, fault code, part count and reject count as OPC UA tags.</a:t>
            </a:r>
          </a:p>
          <a:p/>
          <a:p>
            <a:r>
              <a:t>Layer three is the edge. A gateway running Node-RED converts raw state changes into downtime events with reason codes, aggregates counts, buffers data if the connection drops, and publishes to the cloud over MQTT secured with TLS.</a:t>
            </a:r>
          </a:p>
          <a:p/>
          <a:p>
            <a:r>
              <a:t>Layer four, the cloud: a time-series database stores the events and computes availability, performance and quality per station, per shift and for the whole line.</a:t>
            </a:r>
          </a:p>
          <a:p/>
          <a:p>
            <a:r>
              <a:t>And layer five, the application: a web dashboard that acts as the HMI, with live line status, OEE trends, a ranked chart of downtime causes, and target versus actual output for the active order.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our data source and plan.</a:t>
            </a:r>
          </a:p>
          <a:p/>
          <a:p>
            <a:r>
              <a:t>The data source is our own tick-based simulator of the line, and it already exists. It produces three things that map directly onto the stack: a tag snapshot of each station — state, fault code, part and reject counts — which becomes our OPC UA tags; an event log of every state change with a reason code, which the edge turns into downtime events; and a record for every board with its serial number, its true defects, what inspection detected, and which station was blamed. That last one gives us first-pass yield.</a:t>
            </a:r>
          </a:p>
          <a:p/>
          <a:p>
            <a:r>
              <a:t>We have already run a first check of the three faults we will use for validation. With stencil wear, the diagnosis names paste defects from the printer and first-pass yield drops from 88.8 to 82.7 percent. With feeder depletion, empty-feeder stops go from 7 to 116 minutes at the pick-and-place. With the nozzle fault, misplacement is blamed on the pick-and-place and yield falls to 66 percent.</a:t>
            </a:r>
          </a:p>
          <a:p/>
          <a:p>
            <a:r>
              <a:t>Our plan builds up the stack in order: the OPC UA server next, then the Node-RED gateway with MQTT over TLS, then the cloud database and OEE calculations, then the dashboard — and finally, we rerun those three faults end to end to confirm the dashboard leads an operator to the right root cause. The architecture can later extend to energy per board and multiple product types with changeovers. Thank you —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4.sv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8.sv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10.svg"/><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8.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800"/>
              <a:t>Cloud-Connected OEE Monitoring for a Simulated SMT PCB Assembly Line</a:t>
            </a:r>
          </a:p>
        </p:txBody>
      </p:sp>
      <p:sp>
        <p:nvSpPr>
          <p:cNvPr id="3" name="Subtitle 2"/>
          <p:cNvSpPr>
            <a:spLocks noGrp="1"/>
          </p:cNvSpPr>
          <p:nvPr>
            <p:ph type="subTitle" idx="1"/>
          </p:nvPr>
        </p:nvSpPr>
        <p:spPr/>
        <p:txBody>
          <a:bodyPr/>
          <a:lstStyle/>
          <a:p>
            <a:r>
              <a:rPr sz="1800"/>
              <a:t>Shao-Chi Cheng  ·  Aldrick Peter Thomas Peter  ·  Yi-Hung Ting  ·  Jatin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title</a:t>
            </a:r>
          </a:p>
        </p:txBody>
      </p:sp>
      <p:sp>
        <p:nvSpPr>
          <p:cNvPr id="3" name="TextBox 2"/>
          <p:cNvSpPr txBox="1"/>
          <p:nvPr/>
        </p:nvSpPr>
        <p:spPr>
          <a:xfrm>
            <a:off x="1078992" y="2157984"/>
            <a:ext cx="10058400" cy="365760"/>
          </a:xfrm>
          <a:prstGeom prst="rect">
            <a:avLst/>
          </a:prstGeom>
          <a:noFill/>
        </p:spPr>
        <p:txBody>
          <a:bodyPr wrap="square" anchor="t" lIns="0" rIns="0" tIns="0" bIns="0">
            <a:spAutoFit/>
          </a:bodyPr>
          <a:lstStyle/>
          <a:p>
            <a:pPr algn="l">
              <a:lnSpc>
                <a:spcPct val="100000"/>
              </a:lnSpc>
            </a:pPr>
            <a:r>
              <a:rPr sz="1800" b="1">
                <a:solidFill>
                  <a:srgbClr val="5B57E0"/>
                </a:solidFill>
              </a:rPr>
              <a:t>Cloud-Connected OEE Monitoring for a Simulated SMT PCB Assembly Line</a:t>
            </a:r>
          </a:p>
        </p:txBody>
      </p:sp>
      <p:sp>
        <p:nvSpPr>
          <p:cNvPr id="4" name="TextBox 3"/>
          <p:cNvSpPr txBox="1"/>
          <p:nvPr/>
        </p:nvSpPr>
        <p:spPr>
          <a:xfrm>
            <a:off x="1078992" y="2560320"/>
            <a:ext cx="10058400" cy="365760"/>
          </a:xfrm>
          <a:prstGeom prst="rect">
            <a:avLst/>
          </a:prstGeom>
          <a:noFill/>
        </p:spPr>
        <p:txBody>
          <a:bodyPr wrap="square" anchor="t" lIns="0" rIns="0" tIns="0" bIns="0">
            <a:spAutoFit/>
          </a:bodyPr>
          <a:lstStyle/>
          <a:p>
            <a:pPr algn="l">
              <a:lnSpc>
                <a:spcPct val="100000"/>
              </a:lnSpc>
            </a:pPr>
            <a:r>
              <a:rPr sz="1400" b="0">
                <a:solidFill>
                  <a:srgbClr val="2B3363"/>
                </a:solidFill>
              </a:rPr>
              <a:t>A working IIoT prototype that measures OEE across a six-station PCB line and shows where the losses come from.</a:t>
            </a:r>
          </a:p>
        </p:txBody>
      </p:sp>
      <p:pic>
        <p:nvPicPr>
          <p:cNvPr id="5" name="Simulator demo 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078992" y="3063240"/>
            <a:ext cx="6903720" cy="3020377"/>
          </a:xfrm>
          <a:prstGeom prst="rect">
            <a:avLst/>
          </a:prstGeom>
        </p:spPr>
      </p:pic>
      <p:sp>
        <p:nvSpPr>
          <p:cNvPr id="6" name="Stat card 1"/>
          <p:cNvSpPr/>
          <p:nvPr/>
        </p:nvSpPr>
        <p:spPr>
          <a:xfrm>
            <a:off x="8458200" y="3063240"/>
            <a:ext cx="2697480" cy="915352"/>
          </a:xfrm>
          <a:prstGeom prst="roundRect">
            <a:avLst>
              <a:gd name="adj" fmla="val 11987"/>
            </a:avLst>
          </a:prstGeom>
          <a:solidFill>
            <a:srgbClr val="0F1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59368" y="3136392"/>
            <a:ext cx="640080" cy="769048"/>
          </a:xfrm>
          <a:prstGeom prst="rect">
            <a:avLst/>
          </a:prstGeom>
          <a:noFill/>
        </p:spPr>
        <p:txBody>
          <a:bodyPr wrap="square" anchor="ctr" lIns="0" rIns="0" tIns="0" bIns="0">
            <a:spAutoFit/>
          </a:bodyPr>
          <a:lstStyle/>
          <a:p>
            <a:pPr algn="l">
              <a:lnSpc>
                <a:spcPct val="100000"/>
              </a:lnSpc>
            </a:pPr>
            <a:r>
              <a:rPr sz="3600" b="1">
                <a:solidFill>
                  <a:srgbClr val="99F7F7"/>
                </a:solidFill>
              </a:rPr>
              <a:t>6</a:t>
            </a:r>
          </a:p>
        </p:txBody>
      </p:sp>
      <p:sp>
        <p:nvSpPr>
          <p:cNvPr id="8" name="TextBox 7"/>
          <p:cNvSpPr txBox="1"/>
          <p:nvPr/>
        </p:nvSpPr>
        <p:spPr>
          <a:xfrm>
            <a:off x="9235440" y="3136392"/>
            <a:ext cx="1783080" cy="769048"/>
          </a:xfrm>
          <a:prstGeom prst="rect">
            <a:avLst/>
          </a:prstGeom>
          <a:noFill/>
        </p:spPr>
        <p:txBody>
          <a:bodyPr wrap="square" anchor="ctr" lIns="0" rIns="0" tIns="0" bIns="0">
            <a:spAutoFit/>
          </a:bodyPr>
          <a:lstStyle/>
          <a:p>
            <a:pPr algn="l">
              <a:lnSpc>
                <a:spcPct val="100000"/>
              </a:lnSpc>
            </a:pPr>
            <a:r>
              <a:rPr sz="1300" b="0">
                <a:solidFill>
                  <a:srgbClr val="FFFFFF"/>
                </a:solidFill>
              </a:rPr>
              <a:t>stations, printer to in-circuit test</a:t>
            </a:r>
          </a:p>
        </p:txBody>
      </p:sp>
      <p:sp>
        <p:nvSpPr>
          <p:cNvPr id="9" name="Stat card 2"/>
          <p:cNvSpPr/>
          <p:nvPr/>
        </p:nvSpPr>
        <p:spPr>
          <a:xfrm>
            <a:off x="8458200" y="4115752"/>
            <a:ext cx="2697480" cy="915352"/>
          </a:xfrm>
          <a:prstGeom prst="roundRect">
            <a:avLst>
              <a:gd name="adj" fmla="val 11987"/>
            </a:avLst>
          </a:prstGeom>
          <a:solidFill>
            <a:srgbClr val="0F1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9368" y="4188904"/>
            <a:ext cx="640080" cy="769048"/>
          </a:xfrm>
          <a:prstGeom prst="rect">
            <a:avLst/>
          </a:prstGeom>
          <a:noFill/>
        </p:spPr>
        <p:txBody>
          <a:bodyPr wrap="square" anchor="ctr" lIns="0" rIns="0" tIns="0" bIns="0">
            <a:spAutoFit/>
          </a:bodyPr>
          <a:lstStyle/>
          <a:p>
            <a:pPr algn="l">
              <a:lnSpc>
                <a:spcPct val="100000"/>
              </a:lnSpc>
            </a:pPr>
            <a:r>
              <a:rPr sz="3600" b="1">
                <a:solidFill>
                  <a:srgbClr val="99F7F7"/>
                </a:solidFill>
              </a:rPr>
              <a:t>5</a:t>
            </a:r>
          </a:p>
        </p:txBody>
      </p:sp>
      <p:sp>
        <p:nvSpPr>
          <p:cNvPr id="11" name="TextBox 10"/>
          <p:cNvSpPr txBox="1"/>
          <p:nvPr/>
        </p:nvSpPr>
        <p:spPr>
          <a:xfrm>
            <a:off x="9235440" y="4188904"/>
            <a:ext cx="1783080" cy="769048"/>
          </a:xfrm>
          <a:prstGeom prst="rect">
            <a:avLst/>
          </a:prstGeom>
          <a:noFill/>
        </p:spPr>
        <p:txBody>
          <a:bodyPr wrap="square" anchor="ctr" lIns="0" rIns="0" tIns="0" bIns="0">
            <a:spAutoFit/>
          </a:bodyPr>
          <a:lstStyle/>
          <a:p>
            <a:pPr algn="l">
              <a:lnSpc>
                <a:spcPct val="100000"/>
              </a:lnSpc>
            </a:pPr>
            <a:r>
              <a:rPr sz="1300" b="0">
                <a:solidFill>
                  <a:srgbClr val="FFFFFF"/>
                </a:solidFill>
              </a:rPr>
              <a:t>IIoT layers, device to dashboard</a:t>
            </a:r>
          </a:p>
        </p:txBody>
      </p:sp>
      <p:sp>
        <p:nvSpPr>
          <p:cNvPr id="12" name="Stat card 3"/>
          <p:cNvSpPr/>
          <p:nvPr/>
        </p:nvSpPr>
        <p:spPr>
          <a:xfrm>
            <a:off x="8458200" y="5168265"/>
            <a:ext cx="2697480" cy="915352"/>
          </a:xfrm>
          <a:prstGeom prst="roundRect">
            <a:avLst>
              <a:gd name="adj" fmla="val 11987"/>
            </a:avLst>
          </a:prstGeom>
          <a:solidFill>
            <a:srgbClr val="0F1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9368" y="5241417"/>
            <a:ext cx="640080" cy="769048"/>
          </a:xfrm>
          <a:prstGeom prst="rect">
            <a:avLst/>
          </a:prstGeom>
          <a:noFill/>
        </p:spPr>
        <p:txBody>
          <a:bodyPr wrap="square" anchor="ctr" lIns="0" rIns="0" tIns="0" bIns="0">
            <a:spAutoFit/>
          </a:bodyPr>
          <a:lstStyle/>
          <a:p>
            <a:pPr algn="l">
              <a:lnSpc>
                <a:spcPct val="100000"/>
              </a:lnSpc>
            </a:pPr>
            <a:r>
              <a:rPr sz="3600" b="1">
                <a:solidFill>
                  <a:srgbClr val="99F7F7"/>
                </a:solidFill>
              </a:rPr>
              <a:t>3</a:t>
            </a:r>
          </a:p>
        </p:txBody>
      </p:sp>
      <p:sp>
        <p:nvSpPr>
          <p:cNvPr id="14" name="TextBox 13"/>
          <p:cNvSpPr txBox="1"/>
          <p:nvPr/>
        </p:nvSpPr>
        <p:spPr>
          <a:xfrm>
            <a:off x="9235440" y="5241417"/>
            <a:ext cx="1783080" cy="769048"/>
          </a:xfrm>
          <a:prstGeom prst="rect">
            <a:avLst/>
          </a:prstGeom>
          <a:noFill/>
        </p:spPr>
        <p:txBody>
          <a:bodyPr wrap="square" anchor="ctr" lIns="0" rIns="0" tIns="0" bIns="0">
            <a:spAutoFit/>
          </a:bodyPr>
          <a:lstStyle/>
          <a:p>
            <a:pPr algn="l">
              <a:lnSpc>
                <a:spcPct val="100000"/>
              </a:lnSpc>
            </a:pPr>
            <a:r>
              <a:rPr sz="1300" b="0">
                <a:solidFill>
                  <a:srgbClr val="FFFFFF"/>
                </a:solidFill>
              </a:rPr>
              <a:t>scripted faults to validate it</a:t>
            </a:r>
          </a:p>
        </p:txBody>
      </p:sp>
      <p:sp>
        <p:nvSpPr>
          <p:cNvPr id="15" name="TextBox 14"/>
          <p:cNvSpPr txBox="1"/>
          <p:nvPr/>
        </p:nvSpPr>
        <p:spPr>
          <a:xfrm>
            <a:off x="1078992" y="6156769"/>
            <a:ext cx="6903720" cy="274320"/>
          </a:xfrm>
          <a:prstGeom prst="rect">
            <a:avLst/>
          </a:prstGeom>
          <a:noFill/>
        </p:spPr>
        <p:txBody>
          <a:bodyPr wrap="square" anchor="t" lIns="0" rIns="0" tIns="0" bIns="0">
            <a:spAutoFit/>
          </a:bodyPr>
          <a:lstStyle/>
          <a:p>
            <a:pPr algn="l">
              <a:lnSpc>
                <a:spcPct val="100000"/>
              </a:lnSpc>
            </a:pPr>
            <a:r>
              <a:rPr sz="1100" b="0">
                <a:solidFill>
                  <a:srgbClr val="4A5280"/>
                </a:solidFill>
              </a:rPr>
              <a:t>Simulated line at 300× speed with an injected nozzle fault (click to play)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Objective 1 badge"/>
          <p:cNvSpPr/>
          <p:nvPr/>
        </p:nvSpPr>
        <p:spPr>
          <a:xfrm>
            <a:off x="2743200" y="2331720"/>
            <a:ext cx="457200" cy="457200"/>
          </a:xfrm>
          <a:prstGeom prst="ellipse">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4" name="TextBox 3"/>
          <p:cNvSpPr txBox="1"/>
          <p:nvPr/>
        </p:nvSpPr>
        <p:spPr>
          <a:xfrm>
            <a:off x="3429000" y="2286000"/>
            <a:ext cx="2377440" cy="548640"/>
          </a:xfrm>
          <a:prstGeom prst="rect">
            <a:avLst/>
          </a:prstGeom>
          <a:noFill/>
        </p:spPr>
        <p:txBody>
          <a:bodyPr wrap="square" anchor="ctr" lIns="0" rIns="0" tIns="0" bIns="0">
            <a:spAutoFit/>
          </a:bodyPr>
          <a:lstStyle/>
          <a:p>
            <a:pPr algn="l">
              <a:lnSpc>
                <a:spcPct val="100000"/>
              </a:lnSpc>
            </a:pPr>
            <a:r>
              <a:rPr sz="1700" b="1">
                <a:solidFill>
                  <a:srgbClr val="0F1B6B"/>
                </a:solidFill>
              </a:rPr>
              <a:t>Measure OEE live</a:t>
            </a:r>
          </a:p>
        </p:txBody>
      </p:sp>
      <p:sp>
        <p:nvSpPr>
          <p:cNvPr id="5" name="TextBox 4"/>
          <p:cNvSpPr txBox="1"/>
          <p:nvPr/>
        </p:nvSpPr>
        <p:spPr>
          <a:xfrm>
            <a:off x="5897880" y="2258568"/>
            <a:ext cx="5257800" cy="640080"/>
          </a:xfrm>
          <a:prstGeom prst="rect">
            <a:avLst/>
          </a:prstGeom>
          <a:noFill/>
        </p:spPr>
        <p:txBody>
          <a:bodyPr wrap="square" anchor="ctr" lIns="0" rIns="0" tIns="0" bIns="0">
            <a:spAutoFit/>
          </a:bodyPr>
          <a:lstStyle/>
          <a:p>
            <a:pPr algn="l">
              <a:lnSpc>
                <a:spcPct val="105000"/>
              </a:lnSpc>
            </a:pPr>
            <a:r>
              <a:rPr sz="1400" b="0">
                <a:solidFill>
                  <a:srgbClr val="2B3363"/>
                </a:solidFill>
              </a:rPr>
              <a:t>Availability × performance × quality, per station, per shift and for the whole line, computed in the cloud.</a:t>
            </a:r>
          </a:p>
        </p:txBody>
      </p:sp>
      <p:sp>
        <p:nvSpPr>
          <p:cNvPr id="6" name="Objective 2 badge"/>
          <p:cNvSpPr/>
          <p:nvPr/>
        </p:nvSpPr>
        <p:spPr>
          <a:xfrm>
            <a:off x="2743200" y="3118104"/>
            <a:ext cx="457200" cy="457200"/>
          </a:xfrm>
          <a:prstGeom prst="ellipse">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7" name="TextBox 6"/>
          <p:cNvSpPr txBox="1"/>
          <p:nvPr/>
        </p:nvSpPr>
        <p:spPr>
          <a:xfrm>
            <a:off x="3429000" y="3072384"/>
            <a:ext cx="2377440" cy="548640"/>
          </a:xfrm>
          <a:prstGeom prst="rect">
            <a:avLst/>
          </a:prstGeom>
          <a:noFill/>
        </p:spPr>
        <p:txBody>
          <a:bodyPr wrap="square" anchor="ctr" lIns="0" rIns="0" tIns="0" bIns="0">
            <a:spAutoFit/>
          </a:bodyPr>
          <a:lstStyle/>
          <a:p>
            <a:pPr algn="l">
              <a:lnSpc>
                <a:spcPct val="100000"/>
              </a:lnSpc>
            </a:pPr>
            <a:r>
              <a:rPr sz="1700" b="1">
                <a:solidFill>
                  <a:srgbClr val="0F1B6B"/>
                </a:solidFill>
              </a:rPr>
              <a:t>Explain downtime</a:t>
            </a:r>
          </a:p>
        </p:txBody>
      </p:sp>
      <p:sp>
        <p:nvSpPr>
          <p:cNvPr id="8" name="TextBox 7"/>
          <p:cNvSpPr txBox="1"/>
          <p:nvPr/>
        </p:nvSpPr>
        <p:spPr>
          <a:xfrm>
            <a:off x="5897880" y="3044952"/>
            <a:ext cx="5257800" cy="640080"/>
          </a:xfrm>
          <a:prstGeom prst="rect">
            <a:avLst/>
          </a:prstGeom>
          <a:noFill/>
        </p:spPr>
        <p:txBody>
          <a:bodyPr wrap="square" anchor="ctr" lIns="0" rIns="0" tIns="0" bIns="0">
            <a:spAutoFit/>
          </a:bodyPr>
          <a:lstStyle/>
          <a:p>
            <a:pPr algn="l">
              <a:lnSpc>
                <a:spcPct val="105000"/>
              </a:lnSpc>
            </a:pPr>
            <a:r>
              <a:rPr sz="1400" b="0">
                <a:solidFill>
                  <a:srgbClr val="2B3363"/>
                </a:solidFill>
              </a:rPr>
              <a:t>Convert raw state changes into downtime events with reason codes, ranked by lost time.</a:t>
            </a:r>
          </a:p>
        </p:txBody>
      </p:sp>
      <p:sp>
        <p:nvSpPr>
          <p:cNvPr id="9" name="Objective 3 badge"/>
          <p:cNvSpPr/>
          <p:nvPr/>
        </p:nvSpPr>
        <p:spPr>
          <a:xfrm>
            <a:off x="2743200" y="3904487"/>
            <a:ext cx="457200" cy="457200"/>
          </a:xfrm>
          <a:prstGeom prst="ellipse">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10" name="TextBox 9"/>
          <p:cNvSpPr txBox="1"/>
          <p:nvPr/>
        </p:nvSpPr>
        <p:spPr>
          <a:xfrm>
            <a:off x="3429000" y="3858768"/>
            <a:ext cx="2377440" cy="548640"/>
          </a:xfrm>
          <a:prstGeom prst="rect">
            <a:avLst/>
          </a:prstGeom>
          <a:noFill/>
        </p:spPr>
        <p:txBody>
          <a:bodyPr wrap="square" anchor="ctr" lIns="0" rIns="0" tIns="0" bIns="0">
            <a:spAutoFit/>
          </a:bodyPr>
          <a:lstStyle/>
          <a:p>
            <a:pPr algn="l">
              <a:lnSpc>
                <a:spcPct val="100000"/>
              </a:lnSpc>
            </a:pPr>
            <a:r>
              <a:rPr sz="1700" b="1">
                <a:solidFill>
                  <a:srgbClr val="0F1B6B"/>
                </a:solidFill>
              </a:rPr>
              <a:t>Trace every reject</a:t>
            </a:r>
          </a:p>
        </p:txBody>
      </p:sp>
      <p:sp>
        <p:nvSpPr>
          <p:cNvPr id="11" name="TextBox 10"/>
          <p:cNvSpPr txBox="1"/>
          <p:nvPr/>
        </p:nvSpPr>
        <p:spPr>
          <a:xfrm>
            <a:off x="5897880" y="3831335"/>
            <a:ext cx="5257800" cy="640080"/>
          </a:xfrm>
          <a:prstGeom prst="rect">
            <a:avLst/>
          </a:prstGeom>
          <a:noFill/>
        </p:spPr>
        <p:txBody>
          <a:bodyPr wrap="square" anchor="ctr" lIns="0" rIns="0" tIns="0" bIns="0">
            <a:spAutoFit/>
          </a:bodyPr>
          <a:lstStyle/>
          <a:p>
            <a:pPr algn="l">
              <a:lnSpc>
                <a:spcPct val="105000"/>
              </a:lnSpc>
            </a:pPr>
            <a:r>
              <a:rPr sz="1400" b="0">
                <a:solidFill>
                  <a:srgbClr val="2B3363"/>
                </a:solidFill>
              </a:rPr>
              <a:t>Serialized boards, so a reject found at SPI, AOI or test is blamed on the station that created it; report first-pass yield.</a:t>
            </a:r>
          </a:p>
        </p:txBody>
      </p:sp>
      <p:sp>
        <p:nvSpPr>
          <p:cNvPr id="12" name="Objective 4 badge"/>
          <p:cNvSpPr/>
          <p:nvPr/>
        </p:nvSpPr>
        <p:spPr>
          <a:xfrm>
            <a:off x="2743200" y="4690872"/>
            <a:ext cx="457200" cy="457200"/>
          </a:xfrm>
          <a:prstGeom prst="ellipse">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13" name="TextBox 12"/>
          <p:cNvSpPr txBox="1"/>
          <p:nvPr/>
        </p:nvSpPr>
        <p:spPr>
          <a:xfrm>
            <a:off x="3429000" y="4645152"/>
            <a:ext cx="2377440" cy="548640"/>
          </a:xfrm>
          <a:prstGeom prst="rect">
            <a:avLst/>
          </a:prstGeom>
          <a:noFill/>
        </p:spPr>
        <p:txBody>
          <a:bodyPr wrap="square" anchor="ctr" lIns="0" rIns="0" tIns="0" bIns="0">
            <a:spAutoFit/>
          </a:bodyPr>
          <a:lstStyle/>
          <a:p>
            <a:pPr algn="l">
              <a:lnSpc>
                <a:spcPct val="100000"/>
              </a:lnSpc>
            </a:pPr>
            <a:r>
              <a:rPr sz="1700" b="1">
                <a:solidFill>
                  <a:srgbClr val="0F1B6B"/>
                </a:solidFill>
              </a:rPr>
              <a:t>Find the bottleneck</a:t>
            </a:r>
          </a:p>
        </p:txBody>
      </p:sp>
      <p:sp>
        <p:nvSpPr>
          <p:cNvPr id="14" name="TextBox 13"/>
          <p:cNvSpPr txBox="1"/>
          <p:nvPr/>
        </p:nvSpPr>
        <p:spPr>
          <a:xfrm>
            <a:off x="5897880" y="4617720"/>
            <a:ext cx="5257800" cy="640080"/>
          </a:xfrm>
          <a:prstGeom prst="rect">
            <a:avLst/>
          </a:prstGeom>
          <a:noFill/>
        </p:spPr>
        <p:txBody>
          <a:bodyPr wrap="square" anchor="ctr" lIns="0" rIns="0" tIns="0" bIns="0">
            <a:spAutoFit/>
          </a:bodyPr>
          <a:lstStyle/>
          <a:p>
            <a:pPr algn="l">
              <a:lnSpc>
                <a:spcPct val="105000"/>
              </a:lnSpc>
            </a:pPr>
            <a:r>
              <a:rPr sz="1400" b="0">
                <a:solidFill>
                  <a:srgbClr val="2B3363"/>
                </a:solidFill>
              </a:rPr>
              <a:t>Separate starved and blocked time from true faults to show which station limits the line.</a:t>
            </a:r>
          </a:p>
        </p:txBody>
      </p:sp>
      <p:sp>
        <p:nvSpPr>
          <p:cNvPr id="15" name="Objective 5 badge"/>
          <p:cNvSpPr/>
          <p:nvPr/>
        </p:nvSpPr>
        <p:spPr>
          <a:xfrm>
            <a:off x="2743200" y="5477256"/>
            <a:ext cx="457200" cy="457200"/>
          </a:xfrm>
          <a:prstGeom prst="ellipse">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16" name="TextBox 15"/>
          <p:cNvSpPr txBox="1"/>
          <p:nvPr/>
        </p:nvSpPr>
        <p:spPr>
          <a:xfrm>
            <a:off x="3429000" y="5431536"/>
            <a:ext cx="2377440" cy="548640"/>
          </a:xfrm>
          <a:prstGeom prst="rect">
            <a:avLst/>
          </a:prstGeom>
          <a:noFill/>
        </p:spPr>
        <p:txBody>
          <a:bodyPr wrap="square" anchor="ctr" lIns="0" rIns="0" tIns="0" bIns="0">
            <a:spAutoFit/>
          </a:bodyPr>
          <a:lstStyle/>
          <a:p>
            <a:pPr algn="l">
              <a:lnSpc>
                <a:spcPct val="100000"/>
              </a:lnSpc>
            </a:pPr>
            <a:r>
              <a:rPr sz="1700" b="1">
                <a:solidFill>
                  <a:srgbClr val="0F1B6B"/>
                </a:solidFill>
              </a:rPr>
              <a:t>Prove it works</a:t>
            </a:r>
          </a:p>
        </p:txBody>
      </p:sp>
      <p:sp>
        <p:nvSpPr>
          <p:cNvPr id="17" name="TextBox 16"/>
          <p:cNvSpPr txBox="1"/>
          <p:nvPr/>
        </p:nvSpPr>
        <p:spPr>
          <a:xfrm>
            <a:off x="5897880" y="5404104"/>
            <a:ext cx="5257800" cy="640080"/>
          </a:xfrm>
          <a:prstGeom prst="rect">
            <a:avLst/>
          </a:prstGeom>
          <a:noFill/>
        </p:spPr>
        <p:txBody>
          <a:bodyPr wrap="square" anchor="ctr" lIns="0" rIns="0" tIns="0" bIns="0">
            <a:spAutoFit/>
          </a:bodyPr>
          <a:lstStyle/>
          <a:p>
            <a:pPr algn="l">
              <a:lnSpc>
                <a:spcPct val="105000"/>
              </a:lnSpc>
            </a:pPr>
            <a:r>
              <a:rPr sz="1400" b="0">
                <a:solidFill>
                  <a:srgbClr val="2B3363"/>
                </a:solidFill>
              </a:rPr>
              <a:t>Scripted faults must lead an operator on the dashboard to the correct root cause.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Background, motivation and significance</a:t>
            </a:r>
          </a:p>
        </p:txBody>
      </p:sp>
      <p:sp>
        <p:nvSpPr>
          <p:cNvPr id="3" name="59 percent card"/>
          <p:cNvSpPr/>
          <p:nvPr/>
        </p:nvSpPr>
        <p:spPr>
          <a:xfrm>
            <a:off x="1078992" y="2240280"/>
            <a:ext cx="3154680" cy="2743200"/>
          </a:xfrm>
          <a:prstGeom prst="roundRect">
            <a:avLst>
              <a:gd name="adj" fmla="val 4000"/>
            </a:avLst>
          </a:prstGeom>
          <a:solidFill>
            <a:srgbClr val="0F1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80" y="2423160"/>
            <a:ext cx="2697480" cy="914400"/>
          </a:xfrm>
          <a:prstGeom prst="rect">
            <a:avLst/>
          </a:prstGeom>
          <a:noFill/>
        </p:spPr>
        <p:txBody>
          <a:bodyPr wrap="square" anchor="t" lIns="0" rIns="0" tIns="0" bIns="0">
            <a:spAutoFit/>
          </a:bodyPr>
          <a:lstStyle/>
          <a:p>
            <a:pPr algn="l">
              <a:lnSpc>
                <a:spcPct val="100000"/>
              </a:lnSpc>
            </a:pPr>
            <a:r>
              <a:rPr sz="5400" b="1">
                <a:solidFill>
                  <a:srgbClr val="99F7F7"/>
                </a:solidFill>
              </a:rPr>
              <a:t>59%</a:t>
            </a:r>
          </a:p>
        </p:txBody>
      </p:sp>
      <p:sp>
        <p:nvSpPr>
          <p:cNvPr id="5" name="TextBox 4"/>
          <p:cNvSpPr txBox="1"/>
          <p:nvPr/>
        </p:nvSpPr>
        <p:spPr>
          <a:xfrm>
            <a:off x="1325880" y="3337560"/>
            <a:ext cx="2697480" cy="1554480"/>
          </a:xfrm>
          <a:prstGeom prst="rect">
            <a:avLst/>
          </a:prstGeom>
          <a:noFill/>
        </p:spPr>
        <p:txBody>
          <a:bodyPr wrap="square" anchor="t" lIns="0" rIns="0" tIns="0" bIns="0">
            <a:spAutoFit/>
          </a:bodyPr>
          <a:lstStyle/>
          <a:p>
            <a:pPr algn="l">
              <a:lnSpc>
                <a:spcPct val="105000"/>
              </a:lnSpc>
            </a:pPr>
            <a:r>
              <a:rPr sz="1400" b="0">
                <a:solidFill>
                  <a:srgbClr val="FFFFFF"/>
                </a:solidFill>
              </a:rPr>
              <a:t>Line OEE in our 24-hour baseline run. Same number, four possible causes, four different fixes.</a:t>
            </a:r>
          </a:p>
        </p:txBody>
      </p:sp>
      <p:sp>
        <p:nvSpPr>
          <p:cNvPr id="6" name="Background card"/>
          <p:cNvSpPr/>
          <p:nvPr/>
        </p:nvSpPr>
        <p:spPr>
          <a:xfrm>
            <a:off x="4572000" y="2240280"/>
            <a:ext cx="6583680" cy="1243584"/>
          </a:xfrm>
          <a:prstGeom prst="roundRect">
            <a:avLst>
              <a:gd name="adj" fmla="val 8823"/>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00600" y="2368296"/>
            <a:ext cx="6172200" cy="320040"/>
          </a:xfrm>
          <a:prstGeom prst="rect">
            <a:avLst/>
          </a:prstGeom>
          <a:noFill/>
        </p:spPr>
        <p:txBody>
          <a:bodyPr wrap="square" anchor="t" lIns="0" rIns="0" tIns="0" bIns="0">
            <a:spAutoFit/>
          </a:bodyPr>
          <a:lstStyle/>
          <a:p>
            <a:pPr algn="l">
              <a:lnSpc>
                <a:spcPct val="100000"/>
              </a:lnSpc>
            </a:pPr>
            <a:r>
              <a:rPr sz="1600" b="1">
                <a:solidFill>
                  <a:srgbClr val="5B57E0"/>
                </a:solidFill>
              </a:rPr>
              <a:t>Background</a:t>
            </a:r>
          </a:p>
        </p:txBody>
      </p:sp>
      <p:sp>
        <p:nvSpPr>
          <p:cNvPr id="8" name="TextBox 7"/>
          <p:cNvSpPr txBox="1"/>
          <p:nvPr/>
        </p:nvSpPr>
        <p:spPr>
          <a:xfrm>
            <a:off x="4800600" y="2697480"/>
            <a:ext cx="6172200" cy="731520"/>
          </a:xfrm>
          <a:prstGeom prst="rect">
            <a:avLst/>
          </a:prstGeom>
          <a:noFill/>
        </p:spPr>
        <p:txBody>
          <a:bodyPr wrap="square" anchor="t" lIns="0" rIns="0" tIns="0" bIns="0">
            <a:spAutoFit/>
          </a:bodyPr>
          <a:lstStyle/>
          <a:p>
            <a:pPr algn="l">
              <a:lnSpc>
                <a:spcPct val="105000"/>
              </a:lnSpc>
            </a:pPr>
            <a:r>
              <a:rPr sz="1400" b="0">
                <a:solidFill>
                  <a:srgbClr val="2B3363"/>
                </a:solidFill>
              </a:rPr>
              <a:t>An SMT line chains six machines with small buffers between them. One stop at the pick-and-place starves every station after it and blocks every station before it.</a:t>
            </a:r>
          </a:p>
        </p:txBody>
      </p:sp>
      <p:sp>
        <p:nvSpPr>
          <p:cNvPr id="9" name="Motivation card"/>
          <p:cNvSpPr/>
          <p:nvPr/>
        </p:nvSpPr>
        <p:spPr>
          <a:xfrm>
            <a:off x="4572000" y="3575304"/>
            <a:ext cx="6583680" cy="1243584"/>
          </a:xfrm>
          <a:prstGeom prst="roundRect">
            <a:avLst>
              <a:gd name="adj" fmla="val 8823"/>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3703320"/>
            <a:ext cx="6172200" cy="320040"/>
          </a:xfrm>
          <a:prstGeom prst="rect">
            <a:avLst/>
          </a:prstGeom>
          <a:noFill/>
        </p:spPr>
        <p:txBody>
          <a:bodyPr wrap="square" anchor="t" lIns="0" rIns="0" tIns="0" bIns="0">
            <a:spAutoFit/>
          </a:bodyPr>
          <a:lstStyle/>
          <a:p>
            <a:pPr algn="l">
              <a:lnSpc>
                <a:spcPct val="100000"/>
              </a:lnSpc>
            </a:pPr>
            <a:r>
              <a:rPr sz="1600" b="1">
                <a:solidFill>
                  <a:srgbClr val="5B57E0"/>
                </a:solidFill>
              </a:rPr>
              <a:t>Motivation</a:t>
            </a:r>
          </a:p>
        </p:txBody>
      </p:sp>
      <p:sp>
        <p:nvSpPr>
          <p:cNvPr id="11" name="TextBox 10"/>
          <p:cNvSpPr txBox="1"/>
          <p:nvPr/>
        </p:nvSpPr>
        <p:spPr>
          <a:xfrm>
            <a:off x="4800600" y="4032504"/>
            <a:ext cx="6172200" cy="731520"/>
          </a:xfrm>
          <a:prstGeom prst="rect">
            <a:avLst/>
          </a:prstGeom>
          <a:noFill/>
        </p:spPr>
        <p:txBody>
          <a:bodyPr wrap="square" anchor="t" lIns="0" rIns="0" tIns="0" bIns="0">
            <a:spAutoFit/>
          </a:bodyPr>
          <a:lstStyle/>
          <a:p>
            <a:pPr algn="l">
              <a:lnSpc>
                <a:spcPct val="105000"/>
              </a:lnSpc>
            </a:pPr>
            <a:r>
              <a:rPr sz="1400" b="0">
                <a:solidFill>
                  <a:srgbClr val="2B3363"/>
                </a:solidFill>
              </a:rPr>
              <a:t>Output is lost to short stops, slow cycles and solder defects. A defect is often found two or three stations after the machine that caused it.</a:t>
            </a:r>
          </a:p>
        </p:txBody>
      </p:sp>
      <p:sp>
        <p:nvSpPr>
          <p:cNvPr id="12" name="Significance card"/>
          <p:cNvSpPr/>
          <p:nvPr/>
        </p:nvSpPr>
        <p:spPr>
          <a:xfrm>
            <a:off x="4572000" y="4910328"/>
            <a:ext cx="6583680" cy="1243584"/>
          </a:xfrm>
          <a:prstGeom prst="roundRect">
            <a:avLst>
              <a:gd name="adj" fmla="val 8823"/>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5038344"/>
            <a:ext cx="6172200" cy="320040"/>
          </a:xfrm>
          <a:prstGeom prst="rect">
            <a:avLst/>
          </a:prstGeom>
          <a:noFill/>
        </p:spPr>
        <p:txBody>
          <a:bodyPr wrap="square" anchor="t" lIns="0" rIns="0" tIns="0" bIns="0">
            <a:spAutoFit/>
          </a:bodyPr>
          <a:lstStyle/>
          <a:p>
            <a:pPr algn="l">
              <a:lnSpc>
                <a:spcPct val="100000"/>
              </a:lnSpc>
            </a:pPr>
            <a:r>
              <a:rPr sz="1600" b="1">
                <a:solidFill>
                  <a:srgbClr val="5B57E0"/>
                </a:solidFill>
              </a:rPr>
              <a:t>Significance</a:t>
            </a:r>
          </a:p>
        </p:txBody>
      </p:sp>
      <p:sp>
        <p:nvSpPr>
          <p:cNvPr id="14" name="TextBox 13"/>
          <p:cNvSpPr txBox="1"/>
          <p:nvPr/>
        </p:nvSpPr>
        <p:spPr>
          <a:xfrm>
            <a:off x="4800600" y="5367528"/>
            <a:ext cx="6172200" cy="731520"/>
          </a:xfrm>
          <a:prstGeom prst="rect">
            <a:avLst/>
          </a:prstGeom>
          <a:noFill/>
        </p:spPr>
        <p:txBody>
          <a:bodyPr wrap="square" anchor="t" lIns="0" rIns="0" tIns="0" bIns="0">
            <a:spAutoFit/>
          </a:bodyPr>
          <a:lstStyle/>
          <a:p>
            <a:pPr algn="l">
              <a:lnSpc>
                <a:spcPct val="105000"/>
              </a:lnSpc>
            </a:pPr>
            <a:r>
              <a:rPr sz="1400" b="0">
                <a:solidFill>
                  <a:srgbClr val="2B3363"/>
                </a:solidFill>
              </a:rPr>
              <a:t>Cause per station turns OEE from a score into a to-do list. The simulator knows the true cause of every loss, so we can prove the dashboard is right.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five IIoT layers</a:t>
            </a:r>
          </a:p>
        </p:txBody>
      </p:sp>
      <p:sp>
        <p:nvSpPr>
          <p:cNvPr id="3" name="Data flows up arrow"/>
          <p:cNvSpPr/>
          <p:nvPr/>
        </p:nvSpPr>
        <p:spPr>
          <a:xfrm>
            <a:off x="1097280" y="2212848"/>
            <a:ext cx="457200" cy="3931920"/>
          </a:xfrm>
          <a:prstGeom prst="upArrow">
            <a:avLst/>
          </a:prstGeom>
          <a:solidFill>
            <a:srgbClr val="B8C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pplication layer"/>
          <p:cNvSpPr/>
          <p:nvPr/>
        </p:nvSpPr>
        <p:spPr>
          <a:xfrm>
            <a:off x="1783080" y="2212848"/>
            <a:ext cx="9418320" cy="713232"/>
          </a:xfrm>
          <a:prstGeom prst="roundRect">
            <a:avLst>
              <a:gd name="adj" fmla="val 12820"/>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84248" y="2212848"/>
            <a:ext cx="457200" cy="713232"/>
          </a:xfrm>
          <a:prstGeom prst="rect">
            <a:avLst/>
          </a:prstGeom>
          <a:noFill/>
        </p:spPr>
        <p:txBody>
          <a:bodyPr wrap="square" anchor="ctr" lIns="0" rIns="0" tIns="0" bIns="0">
            <a:spAutoFit/>
          </a:bodyPr>
          <a:lstStyle/>
          <a:p>
            <a:pPr algn="l">
              <a:lnSpc>
                <a:spcPct val="100000"/>
              </a:lnSpc>
            </a:pPr>
            <a:r>
              <a:rPr sz="1400" b="1">
                <a:solidFill>
                  <a:srgbClr val="5B57E0"/>
                </a:solidFill>
              </a:rPr>
              <a:t>L5</a:t>
            </a:r>
          </a:p>
        </p:txBody>
      </p:sp>
      <p:sp>
        <p:nvSpPr>
          <p:cNvPr id="6" name="TextBox 5"/>
          <p:cNvSpPr txBox="1"/>
          <p:nvPr/>
        </p:nvSpPr>
        <p:spPr>
          <a:xfrm>
            <a:off x="2468880" y="2212848"/>
            <a:ext cx="1691640" cy="713232"/>
          </a:xfrm>
          <a:prstGeom prst="rect">
            <a:avLst/>
          </a:prstGeom>
          <a:noFill/>
        </p:spPr>
        <p:txBody>
          <a:bodyPr wrap="square" anchor="ctr" lIns="0" rIns="0" tIns="0" bIns="0">
            <a:spAutoFit/>
          </a:bodyPr>
          <a:lstStyle/>
          <a:p>
            <a:pPr algn="l">
              <a:lnSpc>
                <a:spcPct val="100000"/>
              </a:lnSpc>
            </a:pPr>
            <a:r>
              <a:rPr sz="1600" b="1">
                <a:solidFill>
                  <a:srgbClr val="0F1B6B"/>
                </a:solidFill>
              </a:rPr>
              <a:t>Application</a:t>
            </a:r>
          </a:p>
        </p:txBody>
      </p:sp>
      <p:sp>
        <p:nvSpPr>
          <p:cNvPr id="7" name="TextBox 6"/>
          <p:cNvSpPr txBox="1"/>
          <p:nvPr/>
        </p:nvSpPr>
        <p:spPr>
          <a:xfrm>
            <a:off x="4251960" y="2212848"/>
            <a:ext cx="4709160" cy="713232"/>
          </a:xfrm>
          <a:prstGeom prst="rect">
            <a:avLst/>
          </a:prstGeom>
          <a:noFill/>
        </p:spPr>
        <p:txBody>
          <a:bodyPr wrap="square" anchor="ctr" lIns="0" rIns="0" tIns="0" bIns="0">
            <a:spAutoFit/>
          </a:bodyPr>
          <a:lstStyle/>
          <a:p>
            <a:pPr algn="l">
              <a:lnSpc>
                <a:spcPct val="100000"/>
              </a:lnSpc>
            </a:pPr>
            <a:r>
              <a:rPr sz="1300" b="0">
                <a:solidFill>
                  <a:srgbClr val="2B3363"/>
                </a:solidFill>
              </a:rPr>
              <a:t>Web dashboard HMI: live line status, OEE trends, ranked downtime causes, target vs actual output.</a:t>
            </a:r>
          </a:p>
        </p:txBody>
      </p:sp>
      <p:sp>
        <p:nvSpPr>
          <p:cNvPr id="8" name="Application technology"/>
          <p:cNvSpPr/>
          <p:nvPr/>
        </p:nvSpPr>
        <p:spPr>
          <a:xfrm>
            <a:off x="9144000" y="2322576"/>
            <a:ext cx="1874519" cy="493776"/>
          </a:xfrm>
          <a:prstGeom prst="roundRect">
            <a:avLst>
              <a:gd name="adj" fmla="val 14814"/>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FFFFFF"/>
                </a:solidFill>
              </a:rPr>
              <a:t>Web dashboard</a:t>
            </a:r>
          </a:p>
        </p:txBody>
      </p:sp>
      <p:sp>
        <p:nvSpPr>
          <p:cNvPr id="9" name="Cloud layer"/>
          <p:cNvSpPr/>
          <p:nvPr/>
        </p:nvSpPr>
        <p:spPr>
          <a:xfrm>
            <a:off x="1783080" y="3017520"/>
            <a:ext cx="9418320" cy="713232"/>
          </a:xfrm>
          <a:prstGeom prst="roundRect">
            <a:avLst>
              <a:gd name="adj" fmla="val 12820"/>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4248" y="3017520"/>
            <a:ext cx="457200" cy="713232"/>
          </a:xfrm>
          <a:prstGeom prst="rect">
            <a:avLst/>
          </a:prstGeom>
          <a:noFill/>
        </p:spPr>
        <p:txBody>
          <a:bodyPr wrap="square" anchor="ctr" lIns="0" rIns="0" tIns="0" bIns="0">
            <a:spAutoFit/>
          </a:bodyPr>
          <a:lstStyle/>
          <a:p>
            <a:pPr algn="l">
              <a:lnSpc>
                <a:spcPct val="100000"/>
              </a:lnSpc>
            </a:pPr>
            <a:r>
              <a:rPr sz="1400" b="1">
                <a:solidFill>
                  <a:srgbClr val="5B57E0"/>
                </a:solidFill>
              </a:rPr>
              <a:t>L4</a:t>
            </a:r>
          </a:p>
        </p:txBody>
      </p:sp>
      <p:sp>
        <p:nvSpPr>
          <p:cNvPr id="11" name="TextBox 10"/>
          <p:cNvSpPr txBox="1"/>
          <p:nvPr/>
        </p:nvSpPr>
        <p:spPr>
          <a:xfrm>
            <a:off x="2468880" y="3017520"/>
            <a:ext cx="1691640" cy="713232"/>
          </a:xfrm>
          <a:prstGeom prst="rect">
            <a:avLst/>
          </a:prstGeom>
          <a:noFill/>
        </p:spPr>
        <p:txBody>
          <a:bodyPr wrap="square" anchor="ctr" lIns="0" rIns="0" tIns="0" bIns="0">
            <a:spAutoFit/>
          </a:bodyPr>
          <a:lstStyle/>
          <a:p>
            <a:pPr algn="l">
              <a:lnSpc>
                <a:spcPct val="100000"/>
              </a:lnSpc>
            </a:pPr>
            <a:r>
              <a:rPr sz="1600" b="1">
                <a:solidFill>
                  <a:srgbClr val="0F1B6B"/>
                </a:solidFill>
              </a:rPr>
              <a:t>Cloud</a:t>
            </a:r>
          </a:p>
        </p:txBody>
      </p:sp>
      <p:sp>
        <p:nvSpPr>
          <p:cNvPr id="12" name="TextBox 11"/>
          <p:cNvSpPr txBox="1"/>
          <p:nvPr/>
        </p:nvSpPr>
        <p:spPr>
          <a:xfrm>
            <a:off x="4251960" y="3017520"/>
            <a:ext cx="4709160" cy="713232"/>
          </a:xfrm>
          <a:prstGeom prst="rect">
            <a:avLst/>
          </a:prstGeom>
          <a:noFill/>
        </p:spPr>
        <p:txBody>
          <a:bodyPr wrap="square" anchor="ctr" lIns="0" rIns="0" tIns="0" bIns="0">
            <a:spAutoFit/>
          </a:bodyPr>
          <a:lstStyle/>
          <a:p>
            <a:pPr algn="l">
              <a:lnSpc>
                <a:spcPct val="100000"/>
              </a:lnSpc>
            </a:pPr>
            <a:r>
              <a:rPr sz="1300" b="0">
                <a:solidFill>
                  <a:srgbClr val="2B3363"/>
                </a:solidFill>
              </a:rPr>
              <a:t>Time-series database stores events; computes availability, performance and quality per station, shift and line.</a:t>
            </a:r>
          </a:p>
        </p:txBody>
      </p:sp>
      <p:sp>
        <p:nvSpPr>
          <p:cNvPr id="13" name="Cloud technology"/>
          <p:cNvSpPr/>
          <p:nvPr/>
        </p:nvSpPr>
        <p:spPr>
          <a:xfrm>
            <a:off x="9144000" y="3127248"/>
            <a:ext cx="1874519" cy="493776"/>
          </a:xfrm>
          <a:prstGeom prst="roundRect">
            <a:avLst>
              <a:gd name="adj" fmla="val 14814"/>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FFFFFF"/>
                </a:solidFill>
              </a:rPr>
              <a:t>Time-series DB</a:t>
            </a:r>
          </a:p>
        </p:txBody>
      </p:sp>
      <p:sp>
        <p:nvSpPr>
          <p:cNvPr id="14" name="Edge layer"/>
          <p:cNvSpPr/>
          <p:nvPr/>
        </p:nvSpPr>
        <p:spPr>
          <a:xfrm>
            <a:off x="1783080" y="3822191"/>
            <a:ext cx="9418320" cy="713232"/>
          </a:xfrm>
          <a:prstGeom prst="roundRect">
            <a:avLst>
              <a:gd name="adj" fmla="val 12820"/>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84248" y="3822191"/>
            <a:ext cx="457200" cy="713232"/>
          </a:xfrm>
          <a:prstGeom prst="rect">
            <a:avLst/>
          </a:prstGeom>
          <a:noFill/>
        </p:spPr>
        <p:txBody>
          <a:bodyPr wrap="square" anchor="ctr" lIns="0" rIns="0" tIns="0" bIns="0">
            <a:spAutoFit/>
          </a:bodyPr>
          <a:lstStyle/>
          <a:p>
            <a:pPr algn="l">
              <a:lnSpc>
                <a:spcPct val="100000"/>
              </a:lnSpc>
            </a:pPr>
            <a:r>
              <a:rPr sz="1400" b="1">
                <a:solidFill>
                  <a:srgbClr val="5B57E0"/>
                </a:solidFill>
              </a:rPr>
              <a:t>L3</a:t>
            </a:r>
          </a:p>
        </p:txBody>
      </p:sp>
      <p:sp>
        <p:nvSpPr>
          <p:cNvPr id="16" name="TextBox 15"/>
          <p:cNvSpPr txBox="1"/>
          <p:nvPr/>
        </p:nvSpPr>
        <p:spPr>
          <a:xfrm>
            <a:off x="2468880" y="3822191"/>
            <a:ext cx="1691640" cy="713232"/>
          </a:xfrm>
          <a:prstGeom prst="rect">
            <a:avLst/>
          </a:prstGeom>
          <a:noFill/>
        </p:spPr>
        <p:txBody>
          <a:bodyPr wrap="square" anchor="ctr" lIns="0" rIns="0" tIns="0" bIns="0">
            <a:spAutoFit/>
          </a:bodyPr>
          <a:lstStyle/>
          <a:p>
            <a:pPr algn="l">
              <a:lnSpc>
                <a:spcPct val="100000"/>
              </a:lnSpc>
            </a:pPr>
            <a:r>
              <a:rPr sz="1600" b="1">
                <a:solidFill>
                  <a:srgbClr val="0F1B6B"/>
                </a:solidFill>
              </a:rPr>
              <a:t>Edge</a:t>
            </a:r>
          </a:p>
        </p:txBody>
      </p:sp>
      <p:sp>
        <p:nvSpPr>
          <p:cNvPr id="17" name="TextBox 16"/>
          <p:cNvSpPr txBox="1"/>
          <p:nvPr/>
        </p:nvSpPr>
        <p:spPr>
          <a:xfrm>
            <a:off x="4251960" y="3822191"/>
            <a:ext cx="4709160" cy="713232"/>
          </a:xfrm>
          <a:prstGeom prst="rect">
            <a:avLst/>
          </a:prstGeom>
          <a:noFill/>
        </p:spPr>
        <p:txBody>
          <a:bodyPr wrap="square" anchor="ctr" lIns="0" rIns="0" tIns="0" bIns="0">
            <a:spAutoFit/>
          </a:bodyPr>
          <a:lstStyle/>
          <a:p>
            <a:pPr algn="l">
              <a:lnSpc>
                <a:spcPct val="100000"/>
              </a:lnSpc>
            </a:pPr>
            <a:r>
              <a:rPr sz="1300" b="0">
                <a:solidFill>
                  <a:srgbClr val="2B3363"/>
                </a:solidFill>
              </a:rPr>
              <a:t>Gateway turns state changes into downtime events with reason codes, aggregates counts, buffers during outages.</a:t>
            </a:r>
          </a:p>
        </p:txBody>
      </p:sp>
      <p:sp>
        <p:nvSpPr>
          <p:cNvPr id="18" name="Edge technology"/>
          <p:cNvSpPr/>
          <p:nvPr/>
        </p:nvSpPr>
        <p:spPr>
          <a:xfrm>
            <a:off x="9144000" y="3931920"/>
            <a:ext cx="1874519" cy="493776"/>
          </a:xfrm>
          <a:prstGeom prst="roundRect">
            <a:avLst>
              <a:gd name="adj" fmla="val 14814"/>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FFFFFF"/>
                </a:solidFill>
              </a:rPr>
              <a:t>Node-RED</a:t>
            </a:r>
          </a:p>
          <a:p>
            <a:pPr algn="ctr"/>
            <a:r>
              <a:rPr sz="1200" b="1">
                <a:solidFill>
                  <a:srgbClr val="FFFFFF"/>
                </a:solidFill>
              </a:rPr>
              <a:t>MQTT over TLS</a:t>
            </a:r>
          </a:p>
        </p:txBody>
      </p:sp>
      <p:sp>
        <p:nvSpPr>
          <p:cNvPr id="19" name="Network layer"/>
          <p:cNvSpPr/>
          <p:nvPr/>
        </p:nvSpPr>
        <p:spPr>
          <a:xfrm>
            <a:off x="1783080" y="4626864"/>
            <a:ext cx="9418320" cy="713232"/>
          </a:xfrm>
          <a:prstGeom prst="roundRect">
            <a:avLst>
              <a:gd name="adj" fmla="val 12820"/>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4626864"/>
            <a:ext cx="457200" cy="713232"/>
          </a:xfrm>
          <a:prstGeom prst="rect">
            <a:avLst/>
          </a:prstGeom>
          <a:noFill/>
        </p:spPr>
        <p:txBody>
          <a:bodyPr wrap="square" anchor="ctr" lIns="0" rIns="0" tIns="0" bIns="0">
            <a:spAutoFit/>
          </a:bodyPr>
          <a:lstStyle/>
          <a:p>
            <a:pPr algn="l">
              <a:lnSpc>
                <a:spcPct val="100000"/>
              </a:lnSpc>
            </a:pPr>
            <a:r>
              <a:rPr sz="1400" b="1">
                <a:solidFill>
                  <a:srgbClr val="5B57E0"/>
                </a:solidFill>
              </a:rPr>
              <a:t>L2</a:t>
            </a:r>
          </a:p>
        </p:txBody>
      </p:sp>
      <p:sp>
        <p:nvSpPr>
          <p:cNvPr id="21" name="TextBox 20"/>
          <p:cNvSpPr txBox="1"/>
          <p:nvPr/>
        </p:nvSpPr>
        <p:spPr>
          <a:xfrm>
            <a:off x="2468880" y="4626864"/>
            <a:ext cx="1691640" cy="713232"/>
          </a:xfrm>
          <a:prstGeom prst="rect">
            <a:avLst/>
          </a:prstGeom>
          <a:noFill/>
        </p:spPr>
        <p:txBody>
          <a:bodyPr wrap="square" anchor="ctr" lIns="0" rIns="0" tIns="0" bIns="0">
            <a:spAutoFit/>
          </a:bodyPr>
          <a:lstStyle/>
          <a:p>
            <a:pPr algn="l">
              <a:lnSpc>
                <a:spcPct val="100000"/>
              </a:lnSpc>
            </a:pPr>
            <a:r>
              <a:rPr sz="1600" b="1">
                <a:solidFill>
                  <a:srgbClr val="0F1B6B"/>
                </a:solidFill>
              </a:rPr>
              <a:t>Network</a:t>
            </a:r>
          </a:p>
        </p:txBody>
      </p:sp>
      <p:sp>
        <p:nvSpPr>
          <p:cNvPr id="22" name="TextBox 21"/>
          <p:cNvSpPr txBox="1"/>
          <p:nvPr/>
        </p:nvSpPr>
        <p:spPr>
          <a:xfrm>
            <a:off x="4251960" y="4626864"/>
            <a:ext cx="4709160" cy="713232"/>
          </a:xfrm>
          <a:prstGeom prst="rect">
            <a:avLst/>
          </a:prstGeom>
          <a:noFill/>
        </p:spPr>
        <p:txBody>
          <a:bodyPr wrap="square" anchor="ctr" lIns="0" rIns="0" tIns="0" bIns="0">
            <a:spAutoFit/>
          </a:bodyPr>
          <a:lstStyle/>
          <a:p>
            <a:pPr algn="l">
              <a:lnSpc>
                <a:spcPct val="100000"/>
              </a:lnSpc>
            </a:pPr>
            <a:r>
              <a:rPr sz="1300" b="0">
                <a:solidFill>
                  <a:srgbClr val="2B3363"/>
                </a:solidFill>
              </a:rPr>
              <a:t>Each station exposes its state, fault code, part count and reject count as tags.</a:t>
            </a:r>
          </a:p>
        </p:txBody>
      </p:sp>
      <p:sp>
        <p:nvSpPr>
          <p:cNvPr id="23" name="Network technology"/>
          <p:cNvSpPr/>
          <p:nvPr/>
        </p:nvSpPr>
        <p:spPr>
          <a:xfrm>
            <a:off x="9144000" y="4736592"/>
            <a:ext cx="1874519" cy="493776"/>
          </a:xfrm>
          <a:prstGeom prst="roundRect">
            <a:avLst>
              <a:gd name="adj" fmla="val 14814"/>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FFFFFF"/>
                </a:solidFill>
              </a:rPr>
              <a:t>OPC UA tags</a:t>
            </a:r>
          </a:p>
        </p:txBody>
      </p:sp>
      <p:sp>
        <p:nvSpPr>
          <p:cNvPr id="24" name="Physical device layer"/>
          <p:cNvSpPr/>
          <p:nvPr/>
        </p:nvSpPr>
        <p:spPr>
          <a:xfrm>
            <a:off x="1783080" y="5431536"/>
            <a:ext cx="9418320" cy="713232"/>
          </a:xfrm>
          <a:prstGeom prst="roundRect">
            <a:avLst>
              <a:gd name="adj" fmla="val 12820"/>
            </a:avLst>
          </a:prstGeom>
          <a:solidFill>
            <a:srgbClr val="F4F5FE"/>
          </a:solidFill>
          <a:ln w="19050">
            <a:solidFill>
              <a:srgbClr val="5B5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84248" y="5431536"/>
            <a:ext cx="457200" cy="713232"/>
          </a:xfrm>
          <a:prstGeom prst="rect">
            <a:avLst/>
          </a:prstGeom>
          <a:noFill/>
        </p:spPr>
        <p:txBody>
          <a:bodyPr wrap="square" anchor="ctr" lIns="0" rIns="0" tIns="0" bIns="0">
            <a:spAutoFit/>
          </a:bodyPr>
          <a:lstStyle/>
          <a:p>
            <a:pPr algn="l">
              <a:lnSpc>
                <a:spcPct val="100000"/>
              </a:lnSpc>
            </a:pPr>
            <a:r>
              <a:rPr sz="1400" b="1">
                <a:solidFill>
                  <a:srgbClr val="5B57E0"/>
                </a:solidFill>
              </a:rPr>
              <a:t>L1</a:t>
            </a:r>
          </a:p>
        </p:txBody>
      </p:sp>
      <p:sp>
        <p:nvSpPr>
          <p:cNvPr id="26" name="TextBox 25"/>
          <p:cNvSpPr txBox="1"/>
          <p:nvPr/>
        </p:nvSpPr>
        <p:spPr>
          <a:xfrm>
            <a:off x="2468880" y="5431536"/>
            <a:ext cx="1691640" cy="713232"/>
          </a:xfrm>
          <a:prstGeom prst="rect">
            <a:avLst/>
          </a:prstGeom>
          <a:noFill/>
        </p:spPr>
        <p:txBody>
          <a:bodyPr wrap="square" anchor="ctr" lIns="0" rIns="0" tIns="0" bIns="0">
            <a:spAutoFit/>
          </a:bodyPr>
          <a:lstStyle/>
          <a:p>
            <a:pPr algn="l">
              <a:lnSpc>
                <a:spcPct val="100000"/>
              </a:lnSpc>
            </a:pPr>
            <a:r>
              <a:rPr sz="1600" b="1">
                <a:solidFill>
                  <a:srgbClr val="0F1B6B"/>
                </a:solidFill>
              </a:rPr>
              <a:t>Physical device</a:t>
            </a:r>
          </a:p>
        </p:txBody>
      </p:sp>
      <p:sp>
        <p:nvSpPr>
          <p:cNvPr id="27" name="TextBox 26"/>
          <p:cNvSpPr txBox="1"/>
          <p:nvPr/>
        </p:nvSpPr>
        <p:spPr>
          <a:xfrm>
            <a:off x="4251960" y="5431536"/>
            <a:ext cx="4709160" cy="713232"/>
          </a:xfrm>
          <a:prstGeom prst="rect">
            <a:avLst/>
          </a:prstGeom>
          <a:noFill/>
        </p:spPr>
        <p:txBody>
          <a:bodyPr wrap="square" anchor="ctr" lIns="0" rIns="0" tIns="0" bIns="0">
            <a:spAutoFit/>
          </a:bodyPr>
          <a:lstStyle/>
          <a:p>
            <a:pPr algn="l">
              <a:lnSpc>
                <a:spcPct val="100000"/>
              </a:lnSpc>
            </a:pPr>
            <a:r>
              <a:rPr sz="1300" b="0">
                <a:solidFill>
                  <a:srgbClr val="2B3363"/>
                </a:solidFill>
              </a:rPr>
              <a:t>Six stations as state machines (running, faulted, starved, blocked) with wear-based faults and finite buffers.</a:t>
            </a:r>
          </a:p>
        </p:txBody>
      </p:sp>
      <p:sp>
        <p:nvSpPr>
          <p:cNvPr id="28" name="Physical device technology"/>
          <p:cNvSpPr/>
          <p:nvPr/>
        </p:nvSpPr>
        <p:spPr>
          <a:xfrm>
            <a:off x="9144000" y="5541264"/>
            <a:ext cx="1874519" cy="493776"/>
          </a:xfrm>
          <a:prstGeom prst="roundRect">
            <a:avLst>
              <a:gd name="adj" fmla="val 14814"/>
            </a:avLst>
          </a:prstGeom>
          <a:solidFill>
            <a:srgbClr val="0F1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FFFFFF"/>
                </a:solidFill>
              </a:rPr>
              <a:t>Python simulator</a:t>
            </a:r>
          </a:p>
          <a:p>
            <a:pPr algn="ctr"/>
            <a:r>
              <a:rPr sz="1200" b="1">
                <a:solidFill>
                  <a:srgbClr val="FFFFFF"/>
                </a:solidFill>
              </a:rPr>
              <a:t>built and tested</a:t>
            </a:r>
          </a:p>
        </p:txBody>
      </p:sp>
      <p:sp>
        <p:nvSpPr>
          <p:cNvPr id="29" name="TextBox 28"/>
          <p:cNvSpPr txBox="1"/>
          <p:nvPr/>
        </p:nvSpPr>
        <p:spPr>
          <a:xfrm>
            <a:off x="914400" y="6217920"/>
            <a:ext cx="822960" cy="274320"/>
          </a:xfrm>
          <a:prstGeom prst="rect">
            <a:avLst/>
          </a:prstGeom>
          <a:noFill/>
        </p:spPr>
        <p:txBody>
          <a:bodyPr wrap="square" anchor="t" lIns="0" rIns="0" tIns="0" bIns="0">
            <a:spAutoFit/>
          </a:bodyPr>
          <a:lstStyle/>
          <a:p>
            <a:pPr algn="ctr">
              <a:lnSpc>
                <a:spcPct val="100000"/>
              </a:lnSpc>
            </a:pPr>
            <a:r>
              <a:rPr sz="1000" b="0">
                <a:solidFill>
                  <a:srgbClr val="4A5280"/>
                </a:solidFill>
              </a:rPr>
              <a:t>data 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source and implementation plan</a:t>
            </a:r>
          </a:p>
        </p:txBody>
      </p:sp>
      <p:sp>
        <p:nvSpPr>
          <p:cNvPr id="3" name="TextBox 2"/>
          <p:cNvSpPr txBox="1"/>
          <p:nvPr/>
        </p:nvSpPr>
        <p:spPr>
          <a:xfrm>
            <a:off x="1078992" y="2176272"/>
            <a:ext cx="5577840" cy="320040"/>
          </a:xfrm>
          <a:prstGeom prst="rect">
            <a:avLst/>
          </a:prstGeom>
          <a:noFill/>
        </p:spPr>
        <p:txBody>
          <a:bodyPr wrap="square" anchor="t" lIns="0" rIns="0" tIns="0" bIns="0">
            <a:spAutoFit/>
          </a:bodyPr>
          <a:lstStyle/>
          <a:p>
            <a:pPr algn="l">
              <a:lnSpc>
                <a:spcPct val="100000"/>
              </a:lnSpc>
            </a:pPr>
            <a:r>
              <a:rPr sz="1600" b="1">
                <a:solidFill>
                  <a:srgbClr val="0F1B6B"/>
                </a:solidFill>
              </a:rPr>
              <a:t>Data source: our tick-based SMT line simulator</a:t>
            </a:r>
          </a:p>
        </p:txBody>
      </p:sp>
      <p:sp>
        <p:nvSpPr>
          <p:cNvPr id="4" name="Tag snapshot row"/>
          <p:cNvSpPr/>
          <p:nvPr/>
        </p:nvSpPr>
        <p:spPr>
          <a:xfrm>
            <a:off x="1078992" y="2560320"/>
            <a:ext cx="5577840" cy="493776"/>
          </a:xfrm>
          <a:prstGeom prst="roundRect">
            <a:avLst>
              <a:gd name="adj" fmla="val 14814"/>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6151" y="2560320"/>
            <a:ext cx="1417320" cy="493776"/>
          </a:xfrm>
          <a:prstGeom prst="rect">
            <a:avLst/>
          </a:prstGeom>
          <a:noFill/>
        </p:spPr>
        <p:txBody>
          <a:bodyPr wrap="square" anchor="ctr" lIns="0" rIns="0" tIns="0" bIns="0">
            <a:spAutoFit/>
          </a:bodyPr>
          <a:lstStyle/>
          <a:p>
            <a:pPr algn="l">
              <a:lnSpc>
                <a:spcPct val="100000"/>
              </a:lnSpc>
            </a:pPr>
            <a:r>
              <a:rPr sz="1300" b="1">
                <a:solidFill>
                  <a:srgbClr val="5B57E0"/>
                </a:solidFill>
              </a:rPr>
              <a:t>Tag snapshot</a:t>
            </a:r>
          </a:p>
        </p:txBody>
      </p:sp>
      <p:sp>
        <p:nvSpPr>
          <p:cNvPr id="6" name="TextBox 5"/>
          <p:cNvSpPr txBox="1"/>
          <p:nvPr/>
        </p:nvSpPr>
        <p:spPr>
          <a:xfrm>
            <a:off x="2679191" y="2560320"/>
            <a:ext cx="3840479" cy="493776"/>
          </a:xfrm>
          <a:prstGeom prst="rect">
            <a:avLst/>
          </a:prstGeom>
          <a:noFill/>
        </p:spPr>
        <p:txBody>
          <a:bodyPr wrap="square" anchor="ctr" lIns="0" rIns="0" tIns="0" bIns="0">
            <a:spAutoFit/>
          </a:bodyPr>
          <a:lstStyle/>
          <a:p>
            <a:pPr algn="l">
              <a:lnSpc>
                <a:spcPct val="100000"/>
              </a:lnSpc>
            </a:pPr>
            <a:r>
              <a:rPr sz="1200" b="0">
                <a:solidFill>
                  <a:srgbClr val="2B3363"/>
                </a:solidFill>
              </a:rPr>
              <a:t>State, fault code, part and reject counts per station, mapped to OPC UA tags</a:t>
            </a:r>
          </a:p>
        </p:txBody>
      </p:sp>
      <p:sp>
        <p:nvSpPr>
          <p:cNvPr id="7" name="Event log row"/>
          <p:cNvSpPr/>
          <p:nvPr/>
        </p:nvSpPr>
        <p:spPr>
          <a:xfrm>
            <a:off x="1078992" y="3127248"/>
            <a:ext cx="5577840" cy="493776"/>
          </a:xfrm>
          <a:prstGeom prst="roundRect">
            <a:avLst>
              <a:gd name="adj" fmla="val 14814"/>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16151" y="3127248"/>
            <a:ext cx="1417320" cy="493776"/>
          </a:xfrm>
          <a:prstGeom prst="rect">
            <a:avLst/>
          </a:prstGeom>
          <a:noFill/>
        </p:spPr>
        <p:txBody>
          <a:bodyPr wrap="square" anchor="ctr" lIns="0" rIns="0" tIns="0" bIns="0">
            <a:spAutoFit/>
          </a:bodyPr>
          <a:lstStyle/>
          <a:p>
            <a:pPr algn="l">
              <a:lnSpc>
                <a:spcPct val="100000"/>
              </a:lnSpc>
            </a:pPr>
            <a:r>
              <a:rPr sz="1300" b="1">
                <a:solidFill>
                  <a:srgbClr val="5B57E0"/>
                </a:solidFill>
              </a:rPr>
              <a:t>Event log</a:t>
            </a:r>
          </a:p>
        </p:txBody>
      </p:sp>
      <p:sp>
        <p:nvSpPr>
          <p:cNvPr id="9" name="TextBox 8"/>
          <p:cNvSpPr txBox="1"/>
          <p:nvPr/>
        </p:nvSpPr>
        <p:spPr>
          <a:xfrm>
            <a:off x="2679191" y="3127248"/>
            <a:ext cx="3840479" cy="493776"/>
          </a:xfrm>
          <a:prstGeom prst="rect">
            <a:avLst/>
          </a:prstGeom>
          <a:noFill/>
        </p:spPr>
        <p:txBody>
          <a:bodyPr wrap="square" anchor="ctr" lIns="0" rIns="0" tIns="0" bIns="0">
            <a:spAutoFit/>
          </a:bodyPr>
          <a:lstStyle/>
          <a:p>
            <a:pPr algn="l">
              <a:lnSpc>
                <a:spcPct val="100000"/>
              </a:lnSpc>
            </a:pPr>
            <a:r>
              <a:rPr sz="1200" b="0">
                <a:solidFill>
                  <a:srgbClr val="2B3363"/>
                </a:solidFill>
              </a:rPr>
              <a:t>Every state change with its reason code, the raw input for downtime events</a:t>
            </a:r>
          </a:p>
        </p:txBody>
      </p:sp>
      <p:sp>
        <p:nvSpPr>
          <p:cNvPr id="10" name="Board records row"/>
          <p:cNvSpPr/>
          <p:nvPr/>
        </p:nvSpPr>
        <p:spPr>
          <a:xfrm>
            <a:off x="1078992" y="3694176"/>
            <a:ext cx="5577840" cy="493776"/>
          </a:xfrm>
          <a:prstGeom prst="roundRect">
            <a:avLst>
              <a:gd name="adj" fmla="val 14814"/>
            </a:avLst>
          </a:prstGeom>
          <a:solidFill>
            <a:srgbClr val="F4F5FE"/>
          </a:solidFill>
          <a:ln w="19050">
            <a:solidFill>
              <a:srgbClr val="DFE3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6151" y="3694176"/>
            <a:ext cx="1417320" cy="493776"/>
          </a:xfrm>
          <a:prstGeom prst="rect">
            <a:avLst/>
          </a:prstGeom>
          <a:noFill/>
        </p:spPr>
        <p:txBody>
          <a:bodyPr wrap="square" anchor="ctr" lIns="0" rIns="0" tIns="0" bIns="0">
            <a:spAutoFit/>
          </a:bodyPr>
          <a:lstStyle/>
          <a:p>
            <a:pPr algn="l">
              <a:lnSpc>
                <a:spcPct val="100000"/>
              </a:lnSpc>
            </a:pPr>
            <a:r>
              <a:rPr sz="1300" b="1">
                <a:solidFill>
                  <a:srgbClr val="5B57E0"/>
                </a:solidFill>
              </a:rPr>
              <a:t>Board records</a:t>
            </a:r>
          </a:p>
        </p:txBody>
      </p:sp>
      <p:sp>
        <p:nvSpPr>
          <p:cNvPr id="12" name="TextBox 11"/>
          <p:cNvSpPr txBox="1"/>
          <p:nvPr/>
        </p:nvSpPr>
        <p:spPr>
          <a:xfrm>
            <a:off x="2679191" y="3694176"/>
            <a:ext cx="3840479" cy="493776"/>
          </a:xfrm>
          <a:prstGeom prst="rect">
            <a:avLst/>
          </a:prstGeom>
          <a:noFill/>
        </p:spPr>
        <p:txBody>
          <a:bodyPr wrap="square" anchor="ctr" lIns="0" rIns="0" tIns="0" bIns="0">
            <a:spAutoFit/>
          </a:bodyPr>
          <a:lstStyle/>
          <a:p>
            <a:pPr algn="l">
              <a:lnSpc>
                <a:spcPct val="100000"/>
              </a:lnSpc>
            </a:pPr>
            <a:r>
              <a:rPr sz="1200" b="0">
                <a:solidFill>
                  <a:srgbClr val="2B3363"/>
                </a:solidFill>
              </a:rPr>
              <a:t>Serial number, true and detected defects, blamed station, for first-pass yield</a:t>
            </a:r>
          </a:p>
        </p:txBody>
      </p:sp>
      <p:sp>
        <p:nvSpPr>
          <p:cNvPr id="13" name="TextBox 12"/>
          <p:cNvSpPr txBox="1"/>
          <p:nvPr/>
        </p:nvSpPr>
        <p:spPr>
          <a:xfrm>
            <a:off x="1078992" y="4343400"/>
            <a:ext cx="5577840" cy="274320"/>
          </a:xfrm>
          <a:prstGeom prst="rect">
            <a:avLst/>
          </a:prstGeom>
          <a:noFill/>
        </p:spPr>
        <p:txBody>
          <a:bodyPr wrap="square" anchor="t" lIns="0" rIns="0" tIns="0" bIns="0">
            <a:spAutoFit/>
          </a:bodyPr>
          <a:lstStyle/>
          <a:p>
            <a:pPr algn="l">
              <a:lnSpc>
                <a:spcPct val="100000"/>
              </a:lnSpc>
            </a:pPr>
            <a:r>
              <a:rPr sz="1400" b="1">
                <a:solidFill>
                  <a:srgbClr val="0F1B6B"/>
                </a:solidFill>
              </a:rPr>
              <a:t>First check: injected faults vs baseline</a:t>
            </a:r>
          </a:p>
        </p:txBody>
      </p:sp>
      <p:graphicFrame>
        <p:nvGraphicFramePr>
          <p:cNvPr id="14" name="Fault check table"/>
          <p:cNvGraphicFramePr>
            <a:graphicFrameLocks noGrp="1"/>
          </p:cNvGraphicFramePr>
          <p:nvPr/>
        </p:nvGraphicFramePr>
        <p:xfrm>
          <a:off x="1078992" y="4681728"/>
          <a:ext cx="5577840" cy="1243584"/>
        </p:xfrm>
        <a:graphic>
          <a:graphicData uri="http://schemas.openxmlformats.org/drawingml/2006/table">
            <a:tbl>
              <a:tblPr firstRow="1" bandRow="1">
                <a:tableStyleId>{5C22544A-7EE6-4342-B048-85BDC9FD1C3A}</a:tableStyleId>
              </a:tblPr>
              <a:tblGrid>
                <a:gridCol w="1691640"/>
                <a:gridCol w="1965960"/>
                <a:gridCol w="1920240"/>
              </a:tblGrid>
              <a:tr h="310896">
                <a:tc>
                  <a:txBody>
                    <a:bodyPr/>
                    <a:lstStyle/>
                    <a:p>
                      <a:r>
                        <a:rPr sz="1200" b="1">
                          <a:solidFill>
                            <a:srgbClr val="FFFFFF"/>
                          </a:solidFill>
                        </a:rPr>
                        <a:t>Scenario</a:t>
                      </a:r>
                    </a:p>
                  </a:txBody>
                  <a:tcPr marL="91440" marR="91440" marT="27432" marB="27432" anchor="ctr">
                    <a:solidFill>
                      <a:srgbClr val="0F1B6B"/>
                    </a:solidFill>
                  </a:tcPr>
                </a:tc>
                <a:tc>
                  <a:txBody>
                    <a:bodyPr/>
                    <a:lstStyle/>
                    <a:p>
                      <a:r>
                        <a:rPr sz="1200" b="1">
                          <a:solidFill>
                            <a:srgbClr val="FFFFFF"/>
                          </a:solidFill>
                        </a:rPr>
                        <a:t>Diagnosis names</a:t>
                      </a:r>
                    </a:p>
                  </a:txBody>
                  <a:tcPr marL="91440" marR="91440" marT="27432" marB="27432" anchor="ctr">
                    <a:solidFill>
                      <a:srgbClr val="0F1B6B"/>
                    </a:solidFill>
                  </a:tcPr>
                </a:tc>
                <a:tc>
                  <a:txBody>
                    <a:bodyPr/>
                    <a:lstStyle/>
                    <a:p>
                      <a:r>
                        <a:rPr sz="1200" b="1">
                          <a:solidFill>
                            <a:srgbClr val="FFFFFF"/>
                          </a:solidFill>
                        </a:rPr>
                        <a:t>Effect</a:t>
                      </a:r>
                    </a:p>
                  </a:txBody>
                  <a:tcPr marL="91440" marR="91440" marT="27432" marB="27432" anchor="ctr">
                    <a:solidFill>
                      <a:srgbClr val="0F1B6B"/>
                    </a:solidFill>
                  </a:tcPr>
                </a:tc>
              </a:tr>
              <a:tr h="310896">
                <a:tc>
                  <a:txBody>
                    <a:bodyPr/>
                    <a:lstStyle/>
                    <a:p>
                      <a:r>
                        <a:rPr sz="1200" b="0">
                          <a:solidFill>
                            <a:srgbClr val="2B3363"/>
                          </a:solidFill>
                        </a:rPr>
                        <a:t>Stencil wear</a:t>
                      </a:r>
                    </a:p>
                  </a:txBody>
                  <a:tcPr marL="91440" marR="91440" marT="27432" marB="27432" anchor="ctr">
                    <a:solidFill>
                      <a:srgbClr val="F4F5FE"/>
                    </a:solidFill>
                  </a:tcPr>
                </a:tc>
                <a:tc>
                  <a:txBody>
                    <a:bodyPr/>
                    <a:lstStyle/>
                    <a:p>
                      <a:r>
                        <a:rPr sz="1200" b="0">
                          <a:solidFill>
                            <a:srgbClr val="2B3363"/>
                          </a:solidFill>
                        </a:rPr>
                        <a:t>Paste defects, printer</a:t>
                      </a:r>
                    </a:p>
                  </a:txBody>
                  <a:tcPr marL="91440" marR="91440" marT="27432" marB="27432" anchor="ctr">
                    <a:solidFill>
                      <a:srgbClr val="F4F5FE"/>
                    </a:solidFill>
                  </a:tcPr>
                </a:tc>
                <a:tc>
                  <a:txBody>
                    <a:bodyPr/>
                    <a:lstStyle/>
                    <a:p>
                      <a:r>
                        <a:rPr sz="1200" b="0">
                          <a:solidFill>
                            <a:srgbClr val="2B3363"/>
                          </a:solidFill>
                        </a:rPr>
                        <a:t>FPY 88.8 → 82.7 %</a:t>
                      </a:r>
                    </a:p>
                  </a:txBody>
                  <a:tcPr marL="91440" marR="91440" marT="27432" marB="27432" anchor="ctr">
                    <a:solidFill>
                      <a:srgbClr val="F4F5FE"/>
                    </a:solidFill>
                  </a:tcPr>
                </a:tc>
              </a:tr>
              <a:tr h="310896">
                <a:tc>
                  <a:txBody>
                    <a:bodyPr/>
                    <a:lstStyle/>
                    <a:p>
                      <a:r>
                        <a:rPr sz="1200" b="0">
                          <a:solidFill>
                            <a:srgbClr val="2B3363"/>
                          </a:solidFill>
                        </a:rPr>
                        <a:t>Feeder depletion</a:t>
                      </a:r>
                    </a:p>
                  </a:txBody>
                  <a:tcPr marL="91440" marR="91440" marT="27432" marB="27432" anchor="ctr">
                    <a:solidFill>
                      <a:srgbClr val="FFFFFF"/>
                    </a:solidFill>
                  </a:tcPr>
                </a:tc>
                <a:tc>
                  <a:txBody>
                    <a:bodyPr/>
                    <a:lstStyle/>
                    <a:p>
                      <a:r>
                        <a:rPr sz="1200" b="0">
                          <a:solidFill>
                            <a:srgbClr val="2B3363"/>
                          </a:solidFill>
                        </a:rPr>
                        <a:t>Empty feeder, P&amp;P</a:t>
                      </a:r>
                    </a:p>
                  </a:txBody>
                  <a:tcPr marL="91440" marR="91440" marT="27432" marB="27432" anchor="ctr">
                    <a:solidFill>
                      <a:srgbClr val="FFFFFF"/>
                    </a:solidFill>
                  </a:tcPr>
                </a:tc>
                <a:tc>
                  <a:txBody>
                    <a:bodyPr/>
                    <a:lstStyle/>
                    <a:p>
                      <a:r>
                        <a:rPr sz="1200" b="0">
                          <a:solidFill>
                            <a:srgbClr val="2B3363"/>
                          </a:solidFill>
                        </a:rPr>
                        <a:t>7 → 116 min stopped</a:t>
                      </a:r>
                    </a:p>
                  </a:txBody>
                  <a:tcPr marL="91440" marR="91440" marT="27432" marB="27432" anchor="ctr">
                    <a:solidFill>
                      <a:srgbClr val="FFFFFF"/>
                    </a:solidFill>
                  </a:tcPr>
                </a:tc>
              </a:tr>
              <a:tr h="310896">
                <a:tc>
                  <a:txBody>
                    <a:bodyPr/>
                    <a:lstStyle/>
                    <a:p>
                      <a:r>
                        <a:rPr sz="1200" b="0">
                          <a:solidFill>
                            <a:srgbClr val="2B3363"/>
                          </a:solidFill>
                        </a:rPr>
                        <a:t>Nozzle fault</a:t>
                      </a:r>
                    </a:p>
                  </a:txBody>
                  <a:tcPr marL="91440" marR="91440" marT="27432" marB="27432" anchor="ctr">
                    <a:solidFill>
                      <a:srgbClr val="F4F5FE"/>
                    </a:solidFill>
                  </a:tcPr>
                </a:tc>
                <a:tc>
                  <a:txBody>
                    <a:bodyPr/>
                    <a:lstStyle/>
                    <a:p>
                      <a:r>
                        <a:rPr sz="1200" b="0">
                          <a:solidFill>
                            <a:srgbClr val="2B3363"/>
                          </a:solidFill>
                        </a:rPr>
                        <a:t>Misplacement, P&amp;P</a:t>
                      </a:r>
                    </a:p>
                  </a:txBody>
                  <a:tcPr marL="91440" marR="91440" marT="27432" marB="27432" anchor="ctr">
                    <a:solidFill>
                      <a:srgbClr val="F4F5FE"/>
                    </a:solidFill>
                  </a:tcPr>
                </a:tc>
                <a:tc>
                  <a:txBody>
                    <a:bodyPr/>
                    <a:lstStyle/>
                    <a:p>
                      <a:r>
                        <a:rPr sz="1200" b="0">
                          <a:solidFill>
                            <a:srgbClr val="2B3363"/>
                          </a:solidFill>
                        </a:rPr>
                        <a:t>FPY 89.7 → 66.2 %</a:t>
                      </a:r>
                    </a:p>
                  </a:txBody>
                  <a:tcPr marL="91440" marR="91440" marT="27432" marB="27432" anchor="ctr">
                    <a:solidFill>
                      <a:srgbClr val="F4F5FE"/>
                    </a:solidFill>
                  </a:tcPr>
                </a:tc>
              </a:tr>
            </a:tbl>
          </a:graphicData>
        </a:graphic>
      </p:graphicFrame>
      <p:sp>
        <p:nvSpPr>
          <p:cNvPr id="15" name="Implementation plan panel"/>
          <p:cNvSpPr/>
          <p:nvPr/>
        </p:nvSpPr>
        <p:spPr>
          <a:xfrm>
            <a:off x="7086600" y="2176272"/>
            <a:ext cx="4069080" cy="3794760"/>
          </a:xfrm>
          <a:prstGeom prst="roundRect">
            <a:avLst>
              <a:gd name="adj" fmla="val 3614"/>
            </a:avLst>
          </a:prstGeom>
          <a:solidFill>
            <a:srgbClr val="0F1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2331720"/>
            <a:ext cx="3520440" cy="365760"/>
          </a:xfrm>
          <a:prstGeom prst="rect">
            <a:avLst/>
          </a:prstGeom>
          <a:noFill/>
        </p:spPr>
        <p:txBody>
          <a:bodyPr wrap="square" anchor="t" lIns="0" rIns="0" tIns="0" bIns="0">
            <a:spAutoFit/>
          </a:bodyPr>
          <a:lstStyle/>
          <a:p>
            <a:pPr algn="l">
              <a:lnSpc>
                <a:spcPct val="100000"/>
              </a:lnSpc>
            </a:pPr>
            <a:r>
              <a:rPr sz="1600" b="1">
                <a:solidFill>
                  <a:srgbClr val="FFFFFF"/>
                </a:solidFill>
              </a:rPr>
              <a:t>Implementation plan</a:t>
            </a:r>
          </a:p>
        </p:txBody>
      </p:sp>
      <p:sp>
        <p:nvSpPr>
          <p:cNvPr id="17" name="TextBox 16"/>
          <p:cNvSpPr txBox="1"/>
          <p:nvPr/>
        </p:nvSpPr>
        <p:spPr>
          <a:xfrm>
            <a:off x="7360920" y="2788920"/>
            <a:ext cx="320040" cy="457200"/>
          </a:xfrm>
          <a:prstGeom prst="rect">
            <a:avLst/>
          </a:prstGeom>
          <a:noFill/>
        </p:spPr>
        <p:txBody>
          <a:bodyPr wrap="square" anchor="ctr" lIns="0" rIns="0" tIns="0" bIns="0">
            <a:spAutoFit/>
          </a:bodyPr>
          <a:lstStyle/>
          <a:p>
            <a:pPr algn="l">
              <a:lnSpc>
                <a:spcPct val="100000"/>
              </a:lnSpc>
            </a:pPr>
            <a:r>
              <a:rPr sz="1500" b="1">
                <a:solidFill>
                  <a:srgbClr val="99F7F7"/>
                </a:solidFill>
              </a:rPr>
              <a:t>1</a:t>
            </a:r>
          </a:p>
        </p:txBody>
      </p:sp>
      <p:sp>
        <p:nvSpPr>
          <p:cNvPr id="18" name="TextBox 17"/>
          <p:cNvSpPr txBox="1"/>
          <p:nvPr/>
        </p:nvSpPr>
        <p:spPr>
          <a:xfrm>
            <a:off x="7726679" y="2788920"/>
            <a:ext cx="2377440" cy="457200"/>
          </a:xfrm>
          <a:prstGeom prst="rect">
            <a:avLst/>
          </a:prstGeom>
          <a:noFill/>
        </p:spPr>
        <p:txBody>
          <a:bodyPr wrap="square" anchor="ctr" lIns="0" rIns="0" tIns="0" bIns="0">
            <a:spAutoFit/>
          </a:bodyPr>
          <a:lstStyle/>
          <a:p>
            <a:pPr algn="l">
              <a:lnSpc>
                <a:spcPct val="100000"/>
              </a:lnSpc>
            </a:pPr>
            <a:r>
              <a:rPr sz="1300" b="0">
                <a:solidFill>
                  <a:srgbClr val="FFFFFF"/>
                </a:solidFill>
              </a:rPr>
              <a:t>Simulator and OEE metrics</a:t>
            </a:r>
          </a:p>
        </p:txBody>
      </p:sp>
      <p:sp>
        <p:nvSpPr>
          <p:cNvPr id="19" name="Done status"/>
          <p:cNvSpPr/>
          <p:nvPr/>
        </p:nvSpPr>
        <p:spPr>
          <a:xfrm>
            <a:off x="10195559" y="2880360"/>
            <a:ext cx="731520" cy="274320"/>
          </a:xfrm>
          <a:prstGeom prst="roundRect">
            <a:avLst>
              <a:gd name="adj" fmla="val 50000"/>
            </a:avLst>
          </a:prstGeom>
          <a:solidFill>
            <a:srgbClr val="5B5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Done</a:t>
            </a:r>
          </a:p>
        </p:txBody>
      </p:sp>
      <p:sp>
        <p:nvSpPr>
          <p:cNvPr id="20" name="TextBox 19"/>
          <p:cNvSpPr txBox="1"/>
          <p:nvPr/>
        </p:nvSpPr>
        <p:spPr>
          <a:xfrm>
            <a:off x="7360920" y="3310127"/>
            <a:ext cx="320040" cy="457200"/>
          </a:xfrm>
          <a:prstGeom prst="rect">
            <a:avLst/>
          </a:prstGeom>
          <a:noFill/>
        </p:spPr>
        <p:txBody>
          <a:bodyPr wrap="square" anchor="ctr" lIns="0" rIns="0" tIns="0" bIns="0">
            <a:spAutoFit/>
          </a:bodyPr>
          <a:lstStyle/>
          <a:p>
            <a:pPr algn="l">
              <a:lnSpc>
                <a:spcPct val="100000"/>
              </a:lnSpc>
            </a:pPr>
            <a:r>
              <a:rPr sz="1500" b="1">
                <a:solidFill>
                  <a:srgbClr val="99F7F7"/>
                </a:solidFill>
              </a:rPr>
              <a:t>2</a:t>
            </a:r>
          </a:p>
        </p:txBody>
      </p:sp>
      <p:sp>
        <p:nvSpPr>
          <p:cNvPr id="21" name="TextBox 20"/>
          <p:cNvSpPr txBox="1"/>
          <p:nvPr/>
        </p:nvSpPr>
        <p:spPr>
          <a:xfrm>
            <a:off x="7726679" y="3310127"/>
            <a:ext cx="2377440" cy="457200"/>
          </a:xfrm>
          <a:prstGeom prst="rect">
            <a:avLst/>
          </a:prstGeom>
          <a:noFill/>
        </p:spPr>
        <p:txBody>
          <a:bodyPr wrap="square" anchor="ctr" lIns="0" rIns="0" tIns="0" bIns="0">
            <a:spAutoFit/>
          </a:bodyPr>
          <a:lstStyle/>
          <a:p>
            <a:pPr algn="l">
              <a:lnSpc>
                <a:spcPct val="100000"/>
              </a:lnSpc>
            </a:pPr>
            <a:r>
              <a:rPr sz="1300" b="0">
                <a:solidFill>
                  <a:srgbClr val="FFFFFF"/>
                </a:solidFill>
              </a:rPr>
              <a:t>OPC UA server on the simulator tags</a:t>
            </a:r>
          </a:p>
        </p:txBody>
      </p:sp>
      <p:sp>
        <p:nvSpPr>
          <p:cNvPr id="22" name="Next status"/>
          <p:cNvSpPr/>
          <p:nvPr/>
        </p:nvSpPr>
        <p:spPr>
          <a:xfrm>
            <a:off x="10195559" y="3401568"/>
            <a:ext cx="731520" cy="274320"/>
          </a:xfrm>
          <a:prstGeom prst="roundRect">
            <a:avLst>
              <a:gd name="adj" fmla="val 50000"/>
            </a:avLst>
          </a:prstGeom>
          <a:solidFill>
            <a:srgbClr val="2A3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Next</a:t>
            </a:r>
          </a:p>
        </p:txBody>
      </p:sp>
      <p:sp>
        <p:nvSpPr>
          <p:cNvPr id="23" name="TextBox 22"/>
          <p:cNvSpPr txBox="1"/>
          <p:nvPr/>
        </p:nvSpPr>
        <p:spPr>
          <a:xfrm>
            <a:off x="7360920" y="3831335"/>
            <a:ext cx="320040" cy="457200"/>
          </a:xfrm>
          <a:prstGeom prst="rect">
            <a:avLst/>
          </a:prstGeom>
          <a:noFill/>
        </p:spPr>
        <p:txBody>
          <a:bodyPr wrap="square" anchor="ctr" lIns="0" rIns="0" tIns="0" bIns="0">
            <a:spAutoFit/>
          </a:bodyPr>
          <a:lstStyle/>
          <a:p>
            <a:pPr algn="l">
              <a:lnSpc>
                <a:spcPct val="100000"/>
              </a:lnSpc>
            </a:pPr>
            <a:r>
              <a:rPr sz="1500" b="1">
                <a:solidFill>
                  <a:srgbClr val="99F7F7"/>
                </a:solidFill>
              </a:rPr>
              <a:t>3</a:t>
            </a:r>
          </a:p>
        </p:txBody>
      </p:sp>
      <p:sp>
        <p:nvSpPr>
          <p:cNvPr id="24" name="TextBox 23"/>
          <p:cNvSpPr txBox="1"/>
          <p:nvPr/>
        </p:nvSpPr>
        <p:spPr>
          <a:xfrm>
            <a:off x="7726679" y="3831335"/>
            <a:ext cx="3154680" cy="457200"/>
          </a:xfrm>
          <a:prstGeom prst="rect">
            <a:avLst/>
          </a:prstGeom>
          <a:noFill/>
        </p:spPr>
        <p:txBody>
          <a:bodyPr wrap="square" anchor="ctr" lIns="0" rIns="0" tIns="0" bIns="0">
            <a:spAutoFit/>
          </a:bodyPr>
          <a:lstStyle/>
          <a:p>
            <a:pPr algn="l">
              <a:lnSpc>
                <a:spcPct val="100000"/>
              </a:lnSpc>
            </a:pPr>
            <a:r>
              <a:rPr sz="1300" b="0">
                <a:solidFill>
                  <a:srgbClr val="FFFFFF"/>
                </a:solidFill>
              </a:rPr>
              <a:t>Node-RED gateway: events, buffering, MQTT over TLS</a:t>
            </a:r>
          </a:p>
        </p:txBody>
      </p:sp>
      <p:sp>
        <p:nvSpPr>
          <p:cNvPr id="25" name="TextBox 24"/>
          <p:cNvSpPr txBox="1"/>
          <p:nvPr/>
        </p:nvSpPr>
        <p:spPr>
          <a:xfrm>
            <a:off x="7360920" y="4352544"/>
            <a:ext cx="320040" cy="457200"/>
          </a:xfrm>
          <a:prstGeom prst="rect">
            <a:avLst/>
          </a:prstGeom>
          <a:noFill/>
        </p:spPr>
        <p:txBody>
          <a:bodyPr wrap="square" anchor="ctr" lIns="0" rIns="0" tIns="0" bIns="0">
            <a:spAutoFit/>
          </a:bodyPr>
          <a:lstStyle/>
          <a:p>
            <a:pPr algn="l">
              <a:lnSpc>
                <a:spcPct val="100000"/>
              </a:lnSpc>
            </a:pPr>
            <a:r>
              <a:rPr sz="1500" b="1">
                <a:solidFill>
                  <a:srgbClr val="99F7F7"/>
                </a:solidFill>
              </a:rPr>
              <a:t>4</a:t>
            </a:r>
          </a:p>
        </p:txBody>
      </p:sp>
      <p:sp>
        <p:nvSpPr>
          <p:cNvPr id="26" name="TextBox 25"/>
          <p:cNvSpPr txBox="1"/>
          <p:nvPr/>
        </p:nvSpPr>
        <p:spPr>
          <a:xfrm>
            <a:off x="7726679" y="4352544"/>
            <a:ext cx="3154680" cy="457200"/>
          </a:xfrm>
          <a:prstGeom prst="rect">
            <a:avLst/>
          </a:prstGeom>
          <a:noFill/>
        </p:spPr>
        <p:txBody>
          <a:bodyPr wrap="square" anchor="ctr" lIns="0" rIns="0" tIns="0" bIns="0">
            <a:spAutoFit/>
          </a:bodyPr>
          <a:lstStyle/>
          <a:p>
            <a:pPr algn="l">
              <a:lnSpc>
                <a:spcPct val="100000"/>
              </a:lnSpc>
            </a:pPr>
            <a:r>
              <a:rPr sz="1300" b="0">
                <a:solidFill>
                  <a:srgbClr val="FFFFFF"/>
                </a:solidFill>
              </a:rPr>
              <a:t>Cloud time-series DB and OEE calculations</a:t>
            </a:r>
          </a:p>
        </p:txBody>
      </p:sp>
      <p:sp>
        <p:nvSpPr>
          <p:cNvPr id="27" name="TextBox 26"/>
          <p:cNvSpPr txBox="1"/>
          <p:nvPr/>
        </p:nvSpPr>
        <p:spPr>
          <a:xfrm>
            <a:off x="7360920" y="4873752"/>
            <a:ext cx="320040" cy="457200"/>
          </a:xfrm>
          <a:prstGeom prst="rect">
            <a:avLst/>
          </a:prstGeom>
          <a:noFill/>
        </p:spPr>
        <p:txBody>
          <a:bodyPr wrap="square" anchor="ctr" lIns="0" rIns="0" tIns="0" bIns="0">
            <a:spAutoFit/>
          </a:bodyPr>
          <a:lstStyle/>
          <a:p>
            <a:pPr algn="l">
              <a:lnSpc>
                <a:spcPct val="100000"/>
              </a:lnSpc>
            </a:pPr>
            <a:r>
              <a:rPr sz="1500" b="1">
                <a:solidFill>
                  <a:srgbClr val="99F7F7"/>
                </a:solidFill>
              </a:rPr>
              <a:t>5</a:t>
            </a:r>
          </a:p>
        </p:txBody>
      </p:sp>
      <p:sp>
        <p:nvSpPr>
          <p:cNvPr id="28" name="TextBox 27"/>
          <p:cNvSpPr txBox="1"/>
          <p:nvPr/>
        </p:nvSpPr>
        <p:spPr>
          <a:xfrm>
            <a:off x="7726679" y="4873752"/>
            <a:ext cx="3154680" cy="457200"/>
          </a:xfrm>
          <a:prstGeom prst="rect">
            <a:avLst/>
          </a:prstGeom>
          <a:noFill/>
        </p:spPr>
        <p:txBody>
          <a:bodyPr wrap="square" anchor="ctr" lIns="0" rIns="0" tIns="0" bIns="0">
            <a:spAutoFit/>
          </a:bodyPr>
          <a:lstStyle/>
          <a:p>
            <a:pPr algn="l">
              <a:lnSpc>
                <a:spcPct val="100000"/>
              </a:lnSpc>
            </a:pPr>
            <a:r>
              <a:rPr sz="1300" b="0">
                <a:solidFill>
                  <a:srgbClr val="FFFFFF"/>
                </a:solidFill>
              </a:rPr>
              <a:t>Web dashboard as the HMI</a:t>
            </a:r>
          </a:p>
        </p:txBody>
      </p:sp>
      <p:sp>
        <p:nvSpPr>
          <p:cNvPr id="29" name="TextBox 28"/>
          <p:cNvSpPr txBox="1"/>
          <p:nvPr/>
        </p:nvSpPr>
        <p:spPr>
          <a:xfrm>
            <a:off x="7360920" y="5394959"/>
            <a:ext cx="320040" cy="457200"/>
          </a:xfrm>
          <a:prstGeom prst="rect">
            <a:avLst/>
          </a:prstGeom>
          <a:noFill/>
        </p:spPr>
        <p:txBody>
          <a:bodyPr wrap="square" anchor="ctr" lIns="0" rIns="0" tIns="0" bIns="0">
            <a:spAutoFit/>
          </a:bodyPr>
          <a:lstStyle/>
          <a:p>
            <a:pPr algn="l">
              <a:lnSpc>
                <a:spcPct val="100000"/>
              </a:lnSpc>
            </a:pPr>
            <a:r>
              <a:rPr sz="1500" b="1">
                <a:solidFill>
                  <a:srgbClr val="99F7F7"/>
                </a:solidFill>
              </a:rPr>
              <a:t>6</a:t>
            </a:r>
          </a:p>
        </p:txBody>
      </p:sp>
      <p:sp>
        <p:nvSpPr>
          <p:cNvPr id="30" name="TextBox 29"/>
          <p:cNvSpPr txBox="1"/>
          <p:nvPr/>
        </p:nvSpPr>
        <p:spPr>
          <a:xfrm>
            <a:off x="7726679" y="5394959"/>
            <a:ext cx="3154680" cy="457200"/>
          </a:xfrm>
          <a:prstGeom prst="rect">
            <a:avLst/>
          </a:prstGeom>
          <a:noFill/>
        </p:spPr>
        <p:txBody>
          <a:bodyPr wrap="square" anchor="ctr" lIns="0" rIns="0" tIns="0" bIns="0">
            <a:spAutoFit/>
          </a:bodyPr>
          <a:lstStyle/>
          <a:p>
            <a:pPr algn="l">
              <a:lnSpc>
                <a:spcPct val="100000"/>
              </a:lnSpc>
            </a:pPr>
            <a:r>
              <a:rPr sz="1300" b="0">
                <a:solidFill>
                  <a:srgbClr val="FFFFFF"/>
                </a:solidFill>
              </a:rPr>
              <a:t>End-to-end validation with the three scripted faults</a:t>
            </a:r>
          </a:p>
        </p:txBody>
      </p:sp>
    </p:spTree>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26D71088-37AC-4F55-813F-7787EE0374BE}" vid="{9E65DF41-B28F-4893-975E-8B96F65F1B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2.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390</Words>
  <Application>Microsoft Office PowerPoint</Application>
  <PresentationFormat>Widescreen</PresentationFormat>
  <Paragraphs>111</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Custom</vt:lpstr>
      <vt:lpstr>Growth strategies</vt:lpstr>
      <vt:lpstr>Agenda</vt:lpstr>
      <vt:lpstr>Strategies for growth</vt:lpstr>
      <vt:lpstr>Current market analysis</vt:lpstr>
      <vt:lpstr>Market expansion</vt:lpstr>
      <vt:lpstr>Product launch</vt:lpstr>
      <vt:lpstr>Marketing strategies</vt:lpstr>
      <vt:lpstr>Financial overview</vt:lpstr>
      <vt:lpstr>Quarterly targets</vt:lpstr>
      <vt:lpstr>Financial snapshot</vt:lpstr>
      <vt:lpstr>Innovative solutions</vt:lpstr>
      <vt:lpstr>Future initiatives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Cloud-Connected OEE Monitoring for a Simulated SMT PCB Assembly Line</dc:title>
  <dc:creator>Shao-Chi Cheng, Aldrick Peter Thomas Peter, Yi-Hung Ting, Jatin</dc:creator>
  <cp:lastModifiedBy>Aldrick Peter</cp:lastModifiedBy>
  <cp:revision>1</cp:revision>
  <dcterms:created xsi:type="dcterms:W3CDTF">2026-10-18T22:08:42Z</dcterms:created>
  <dcterms:modified xsi:type="dcterms:W3CDTF">2026-10-18T22:09:39Z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